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3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93" r:id="rId35"/>
    <p:sldId id="290" r:id="rId36"/>
    <p:sldId id="294" r:id="rId37"/>
    <p:sldId id="292" r:id="rId38"/>
  </p:sldIdLst>
  <p:sldSz cx="12192000" cy="6858000"/>
  <p:notesSz cx="6858000" cy="9144000"/>
  <p:embeddedFontLst>
    <p:embeddedFont>
      <p:font typeface="Georgia" panose="02040502050405020303" pitchFamily="18" charset="0"/>
      <p:regular r:id="rId40"/>
      <p:bold r:id="rId41"/>
      <p:italic r:id="rId42"/>
      <p:boldItalic r:id="rId43"/>
    </p:embeddedFont>
    <p:embeddedFont>
      <p:font typeface="Play" panose="020B0604020202020204" charset="0"/>
      <p:regular r:id="rId44"/>
      <p:bold r:id="rId4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46" roundtripDataSignature="AMtx7mi5KTOYZ11pMvKLdQ6JI5jpbtkJH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685BF165-27C6-4673-8ED6-769AD60D782A}">
  <a:tblStyle styleId="{685BF165-27C6-4673-8ED6-769AD60D782A}"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725"/>
  </p:normalViewPr>
  <p:slideViewPr>
    <p:cSldViewPr snapToGrid="0">
      <p:cViewPr varScale="1">
        <p:scale>
          <a:sx n="59" d="100"/>
          <a:sy n="59" d="100"/>
        </p:scale>
        <p:origin x="332"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3.fntdata"/><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font" Target="fonts/font1.fntdata"/><Relationship Id="rId45" Type="http://schemas.openxmlformats.org/officeDocument/2006/relationships/font" Target="fonts/font6.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5.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4.fntdata"/><Relationship Id="rId48"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customschemas.google.com/relationships/presentationmetadata" Target="metadata"/><Relationship Id="rId20" Type="http://schemas.openxmlformats.org/officeDocument/2006/relationships/slide" Target="slides/slide19.xml"/><Relationship Id="rId41" Type="http://schemas.openxmlformats.org/officeDocument/2006/relationships/font" Target="fonts/font2.fntdata"/><Relationship Id="rId1" Type="http://schemas.openxmlformats.org/officeDocument/2006/relationships/slideMaster" Target="slideMasters/slideMaster1.xml"/><Relationship Id="rId6" Type="http://schemas.openxmlformats.org/officeDocument/2006/relationships/slide" Target="slides/slide5.xml"/></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7ED251F-A7A3-4D25-B004-4241BE03EDC3}" type="doc">
      <dgm:prSet loTypeId="urn:microsoft.com/office/officeart/2005/8/layout/vProcess5" loCatId="process" qsTypeId="urn:microsoft.com/office/officeart/2005/8/quickstyle/simple1" qsCatId="simple" csTypeId="urn:microsoft.com/office/officeart/2005/8/colors/colorful2" csCatId="colorful" phldr="1"/>
      <dgm:spPr/>
      <dgm:t>
        <a:bodyPr/>
        <a:lstStyle/>
        <a:p>
          <a:endParaRPr lang="en-US"/>
        </a:p>
      </dgm:t>
    </dgm:pt>
    <dgm:pt modelId="{DFBD6BAB-0140-48B9-9073-E08FDCB01885}">
      <dgm:prSet custT="1"/>
      <dgm:spPr/>
      <dgm:t>
        <a:bodyPr/>
        <a:lstStyle/>
        <a:p>
          <a:pPr algn="ctr"/>
          <a:r>
            <a:rPr lang="en-IN" sz="2800" dirty="0">
              <a:latin typeface="Calibri" panose="020F0502020204030204" pitchFamily="34" charset="0"/>
              <a:cs typeface="Calibri" panose="020F0502020204030204" pitchFamily="34" charset="0"/>
            </a:rPr>
            <a:t>Outcome 1: </a:t>
          </a:r>
          <a:r>
            <a:rPr lang="en-US" sz="2800" dirty="0">
              <a:latin typeface="Calibri" panose="020F0502020204030204" pitchFamily="34" charset="0"/>
              <a:cs typeface="Calibri" panose="020F0502020204030204" pitchFamily="34" charset="0"/>
            </a:rPr>
            <a:t>Formula application of Averages and how to compute weighted averages</a:t>
          </a:r>
        </a:p>
      </dgm:t>
    </dgm:pt>
    <dgm:pt modelId="{A7069F57-F0E9-4BC0-BE1B-B8F059C9E5B6}" type="parTrans" cxnId="{32A129EE-3813-43B6-AF53-E9A6D3182FA2}">
      <dgm:prSet/>
      <dgm:spPr/>
      <dgm:t>
        <a:bodyPr/>
        <a:lstStyle/>
        <a:p>
          <a:endParaRPr lang="en-US"/>
        </a:p>
      </dgm:t>
    </dgm:pt>
    <dgm:pt modelId="{0715BA3E-6351-4C71-A2A0-855403651045}" type="sibTrans" cxnId="{32A129EE-3813-43B6-AF53-E9A6D3182FA2}">
      <dgm:prSet/>
      <dgm:spPr/>
      <dgm:t>
        <a:bodyPr/>
        <a:lstStyle/>
        <a:p>
          <a:endParaRPr lang="en-US"/>
        </a:p>
      </dgm:t>
    </dgm:pt>
    <dgm:pt modelId="{A3B4F848-7886-4B10-8E34-39E0B844A474}">
      <dgm:prSet custT="1"/>
      <dgm:spPr/>
      <dgm:t>
        <a:bodyPr/>
        <a:lstStyle/>
        <a:p>
          <a:r>
            <a:rPr lang="en-IN" sz="2800" dirty="0">
              <a:latin typeface="Calibri" panose="020F0502020204030204" pitchFamily="34" charset="0"/>
              <a:cs typeface="Calibri" panose="020F0502020204030204" pitchFamily="34" charset="0"/>
            </a:rPr>
            <a:t>Outcome 2: </a:t>
          </a:r>
          <a:r>
            <a:rPr lang="en-US" sz="2800" dirty="0">
              <a:latin typeface="Calibri" panose="020F0502020204030204" pitchFamily="34" charset="0"/>
              <a:cs typeface="Calibri" panose="020F0502020204030204" pitchFamily="34" charset="0"/>
            </a:rPr>
            <a:t>Formula application, concept of mixtures, rule of </a:t>
          </a:r>
          <a:r>
            <a:rPr lang="en-US" sz="2800" dirty="0" err="1">
              <a:latin typeface="Calibri" panose="020F0502020204030204" pitchFamily="34" charset="0"/>
              <a:cs typeface="Calibri" panose="020F0502020204030204" pitchFamily="34" charset="0"/>
            </a:rPr>
            <a:t>alligation</a:t>
          </a:r>
          <a:r>
            <a:rPr lang="en-US" sz="2800" dirty="0">
              <a:latin typeface="Calibri" panose="020F0502020204030204" pitchFamily="34" charset="0"/>
              <a:cs typeface="Calibri" panose="020F0502020204030204" pitchFamily="34" charset="0"/>
            </a:rPr>
            <a:t> and replacement property.</a:t>
          </a:r>
          <a:endParaRPr lang="en-IN" sz="2800" dirty="0">
            <a:latin typeface="Calibri" panose="020F0502020204030204" pitchFamily="34" charset="0"/>
            <a:cs typeface="Calibri" panose="020F0502020204030204" pitchFamily="34" charset="0"/>
          </a:endParaRPr>
        </a:p>
        <a:p>
          <a:endParaRPr lang="en-US" sz="2200" dirty="0">
            <a:latin typeface="Calibri" panose="020F0502020204030204" pitchFamily="34" charset="0"/>
            <a:cs typeface="Calibri" panose="020F0502020204030204" pitchFamily="34" charset="0"/>
          </a:endParaRPr>
        </a:p>
      </dgm:t>
    </dgm:pt>
    <dgm:pt modelId="{421929F8-4756-4702-AAD7-7A5185D82904}" type="parTrans" cxnId="{10F4C3C1-D8D4-465A-A58C-B8F418AC919B}">
      <dgm:prSet/>
      <dgm:spPr/>
      <dgm:t>
        <a:bodyPr/>
        <a:lstStyle/>
        <a:p>
          <a:endParaRPr lang="en-US"/>
        </a:p>
      </dgm:t>
    </dgm:pt>
    <dgm:pt modelId="{3DE2F17F-758E-4FA7-AB6B-444F38F1FFC4}" type="sibTrans" cxnId="{10F4C3C1-D8D4-465A-A58C-B8F418AC919B}">
      <dgm:prSet/>
      <dgm:spPr/>
      <dgm:t>
        <a:bodyPr/>
        <a:lstStyle/>
        <a:p>
          <a:endParaRPr lang="en-US"/>
        </a:p>
      </dgm:t>
    </dgm:pt>
    <dgm:pt modelId="{E218E0F1-97EC-4D60-8F4A-A6E21D910199}" type="pres">
      <dgm:prSet presAssocID="{B7ED251F-A7A3-4D25-B004-4241BE03EDC3}" presName="outerComposite" presStyleCnt="0">
        <dgm:presLayoutVars>
          <dgm:chMax val="5"/>
          <dgm:dir/>
          <dgm:resizeHandles val="exact"/>
        </dgm:presLayoutVars>
      </dgm:prSet>
      <dgm:spPr/>
    </dgm:pt>
    <dgm:pt modelId="{353F2BDB-A1CE-4ECD-BC0F-35AD5A327550}" type="pres">
      <dgm:prSet presAssocID="{B7ED251F-A7A3-4D25-B004-4241BE03EDC3}" presName="dummyMaxCanvas" presStyleCnt="0">
        <dgm:presLayoutVars/>
      </dgm:prSet>
      <dgm:spPr/>
    </dgm:pt>
    <dgm:pt modelId="{50B3B115-9ED4-4424-B000-6C66B8D607D6}" type="pres">
      <dgm:prSet presAssocID="{B7ED251F-A7A3-4D25-B004-4241BE03EDC3}" presName="TwoNodes_1" presStyleLbl="node1" presStyleIdx="0" presStyleCnt="2">
        <dgm:presLayoutVars>
          <dgm:bulletEnabled val="1"/>
        </dgm:presLayoutVars>
      </dgm:prSet>
      <dgm:spPr/>
    </dgm:pt>
    <dgm:pt modelId="{66D5292E-E31B-47C3-B7F6-6E92D8DBC596}" type="pres">
      <dgm:prSet presAssocID="{B7ED251F-A7A3-4D25-B004-4241BE03EDC3}" presName="TwoNodes_2" presStyleLbl="node1" presStyleIdx="1" presStyleCnt="2" custLinFactNeighborX="-6797" custLinFactNeighborY="36718">
        <dgm:presLayoutVars>
          <dgm:bulletEnabled val="1"/>
        </dgm:presLayoutVars>
      </dgm:prSet>
      <dgm:spPr/>
    </dgm:pt>
    <dgm:pt modelId="{C65C44E2-047F-4F51-A8DC-FF51C925FC7F}" type="pres">
      <dgm:prSet presAssocID="{B7ED251F-A7A3-4D25-B004-4241BE03EDC3}" presName="TwoConn_1-2" presStyleLbl="fgAccFollowNode1" presStyleIdx="0" presStyleCnt="1">
        <dgm:presLayoutVars>
          <dgm:bulletEnabled val="1"/>
        </dgm:presLayoutVars>
      </dgm:prSet>
      <dgm:spPr/>
    </dgm:pt>
    <dgm:pt modelId="{A4FE43DF-38F9-4E9D-BFAC-B056439DD239}" type="pres">
      <dgm:prSet presAssocID="{B7ED251F-A7A3-4D25-B004-4241BE03EDC3}" presName="TwoNodes_1_text" presStyleLbl="node1" presStyleIdx="1" presStyleCnt="2">
        <dgm:presLayoutVars>
          <dgm:bulletEnabled val="1"/>
        </dgm:presLayoutVars>
      </dgm:prSet>
      <dgm:spPr/>
    </dgm:pt>
    <dgm:pt modelId="{D6550B05-CA9B-414C-B02C-0996B53629B5}" type="pres">
      <dgm:prSet presAssocID="{B7ED251F-A7A3-4D25-B004-4241BE03EDC3}" presName="TwoNodes_2_text" presStyleLbl="node1" presStyleIdx="1" presStyleCnt="2">
        <dgm:presLayoutVars>
          <dgm:bulletEnabled val="1"/>
        </dgm:presLayoutVars>
      </dgm:prSet>
      <dgm:spPr/>
    </dgm:pt>
  </dgm:ptLst>
  <dgm:cxnLst>
    <dgm:cxn modelId="{08A81826-7273-44A3-AF99-B781181E27AF}" type="presOf" srcId="{B7ED251F-A7A3-4D25-B004-4241BE03EDC3}" destId="{E218E0F1-97EC-4D60-8F4A-A6E21D910199}" srcOrd="0" destOrd="0" presId="urn:microsoft.com/office/officeart/2005/8/layout/vProcess5"/>
    <dgm:cxn modelId="{B7C90E5D-C08D-4C7A-BC09-978891E6C996}" type="presOf" srcId="{0715BA3E-6351-4C71-A2A0-855403651045}" destId="{C65C44E2-047F-4F51-A8DC-FF51C925FC7F}" srcOrd="0" destOrd="0" presId="urn:microsoft.com/office/officeart/2005/8/layout/vProcess5"/>
    <dgm:cxn modelId="{F8377941-5A76-4607-BD83-62C7797B0244}" type="presOf" srcId="{DFBD6BAB-0140-48B9-9073-E08FDCB01885}" destId="{A4FE43DF-38F9-4E9D-BFAC-B056439DD239}" srcOrd="1" destOrd="0" presId="urn:microsoft.com/office/officeart/2005/8/layout/vProcess5"/>
    <dgm:cxn modelId="{D8FD6265-6EFF-41EA-A3FD-157498354C48}" type="presOf" srcId="{A3B4F848-7886-4B10-8E34-39E0B844A474}" destId="{66D5292E-E31B-47C3-B7F6-6E92D8DBC596}" srcOrd="0" destOrd="0" presId="urn:microsoft.com/office/officeart/2005/8/layout/vProcess5"/>
    <dgm:cxn modelId="{77311569-CDC2-49AC-95DB-7463C529128E}" type="presOf" srcId="{A3B4F848-7886-4B10-8E34-39E0B844A474}" destId="{D6550B05-CA9B-414C-B02C-0996B53629B5}" srcOrd="1" destOrd="0" presId="urn:microsoft.com/office/officeart/2005/8/layout/vProcess5"/>
    <dgm:cxn modelId="{7987A051-5FB1-40A3-A3C7-DD53D6028BFC}" type="presOf" srcId="{DFBD6BAB-0140-48B9-9073-E08FDCB01885}" destId="{50B3B115-9ED4-4424-B000-6C66B8D607D6}" srcOrd="0" destOrd="0" presId="urn:microsoft.com/office/officeart/2005/8/layout/vProcess5"/>
    <dgm:cxn modelId="{10F4C3C1-D8D4-465A-A58C-B8F418AC919B}" srcId="{B7ED251F-A7A3-4D25-B004-4241BE03EDC3}" destId="{A3B4F848-7886-4B10-8E34-39E0B844A474}" srcOrd="1" destOrd="0" parTransId="{421929F8-4756-4702-AAD7-7A5185D82904}" sibTransId="{3DE2F17F-758E-4FA7-AB6B-444F38F1FFC4}"/>
    <dgm:cxn modelId="{32A129EE-3813-43B6-AF53-E9A6D3182FA2}" srcId="{B7ED251F-A7A3-4D25-B004-4241BE03EDC3}" destId="{DFBD6BAB-0140-48B9-9073-E08FDCB01885}" srcOrd="0" destOrd="0" parTransId="{A7069F57-F0E9-4BC0-BE1B-B8F059C9E5B6}" sibTransId="{0715BA3E-6351-4C71-A2A0-855403651045}"/>
    <dgm:cxn modelId="{61E78557-A66C-4CE5-B60F-73372A952247}" type="presParOf" srcId="{E218E0F1-97EC-4D60-8F4A-A6E21D910199}" destId="{353F2BDB-A1CE-4ECD-BC0F-35AD5A327550}" srcOrd="0" destOrd="0" presId="urn:microsoft.com/office/officeart/2005/8/layout/vProcess5"/>
    <dgm:cxn modelId="{91FFE510-5AEF-4699-93BA-62BCE0929612}" type="presParOf" srcId="{E218E0F1-97EC-4D60-8F4A-A6E21D910199}" destId="{50B3B115-9ED4-4424-B000-6C66B8D607D6}" srcOrd="1" destOrd="0" presId="urn:microsoft.com/office/officeart/2005/8/layout/vProcess5"/>
    <dgm:cxn modelId="{A6323143-C21B-48C4-A26E-C1BE1D3FDFA3}" type="presParOf" srcId="{E218E0F1-97EC-4D60-8F4A-A6E21D910199}" destId="{66D5292E-E31B-47C3-B7F6-6E92D8DBC596}" srcOrd="2" destOrd="0" presId="urn:microsoft.com/office/officeart/2005/8/layout/vProcess5"/>
    <dgm:cxn modelId="{A7712366-DE27-4D2D-9EA4-E72C08291FDF}" type="presParOf" srcId="{E218E0F1-97EC-4D60-8F4A-A6E21D910199}" destId="{C65C44E2-047F-4F51-A8DC-FF51C925FC7F}" srcOrd="3" destOrd="0" presId="urn:microsoft.com/office/officeart/2005/8/layout/vProcess5"/>
    <dgm:cxn modelId="{D9234DA3-5745-412D-96F2-93EDC8C718C2}" type="presParOf" srcId="{E218E0F1-97EC-4D60-8F4A-A6E21D910199}" destId="{A4FE43DF-38F9-4E9D-BFAC-B056439DD239}" srcOrd="4" destOrd="0" presId="urn:microsoft.com/office/officeart/2005/8/layout/vProcess5"/>
    <dgm:cxn modelId="{9F1A614F-0DA6-43D7-AACB-1E517E8A8B09}" type="presParOf" srcId="{E218E0F1-97EC-4D60-8F4A-A6E21D910199}" destId="{D6550B05-CA9B-414C-B02C-0996B53629B5}" srcOrd="5" destOrd="0" presId="urn:microsoft.com/office/officeart/2005/8/layout/vProcess5"/>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0B3B115-9ED4-4424-B000-6C66B8D607D6}">
      <dsp:nvSpPr>
        <dsp:cNvPr id="0" name=""/>
        <dsp:cNvSpPr/>
      </dsp:nvSpPr>
      <dsp:spPr>
        <a:xfrm>
          <a:off x="0" y="0"/>
          <a:ext cx="9634011" cy="1930559"/>
        </a:xfrm>
        <a:prstGeom prst="roundRect">
          <a:avLst>
            <a:gd name="adj" fmla="val 10000"/>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IN" sz="2800" kern="1200" dirty="0">
              <a:latin typeface="Calibri" panose="020F0502020204030204" pitchFamily="34" charset="0"/>
              <a:cs typeface="Calibri" panose="020F0502020204030204" pitchFamily="34" charset="0"/>
            </a:rPr>
            <a:t>Outcome 1: </a:t>
          </a:r>
          <a:r>
            <a:rPr lang="en-US" sz="2800" kern="1200" dirty="0">
              <a:latin typeface="Calibri" panose="020F0502020204030204" pitchFamily="34" charset="0"/>
              <a:cs typeface="Calibri" panose="020F0502020204030204" pitchFamily="34" charset="0"/>
            </a:rPr>
            <a:t>Formula application of Averages and how to compute weighted averages</a:t>
          </a:r>
        </a:p>
      </dsp:txBody>
      <dsp:txXfrm>
        <a:off x="56544" y="56544"/>
        <a:ext cx="7638627" cy="1817471"/>
      </dsp:txXfrm>
    </dsp:sp>
    <dsp:sp modelId="{66D5292E-E31B-47C3-B7F6-6E92D8DBC596}">
      <dsp:nvSpPr>
        <dsp:cNvPr id="0" name=""/>
        <dsp:cNvSpPr/>
      </dsp:nvSpPr>
      <dsp:spPr>
        <a:xfrm>
          <a:off x="1045295" y="2359573"/>
          <a:ext cx="9634011" cy="1930559"/>
        </a:xfrm>
        <a:prstGeom prst="roundRect">
          <a:avLst>
            <a:gd name="adj" fmla="val 10000"/>
          </a:avLst>
        </a:prstGeom>
        <a:solidFill>
          <a:schemeClr val="accent2">
            <a:hueOff val="6443614"/>
            <a:satOff val="-18493"/>
            <a:lumOff val="-29609"/>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IN" sz="2800" kern="1200" dirty="0">
              <a:latin typeface="Calibri" panose="020F0502020204030204" pitchFamily="34" charset="0"/>
              <a:cs typeface="Calibri" panose="020F0502020204030204" pitchFamily="34" charset="0"/>
            </a:rPr>
            <a:t>Outcome 2: </a:t>
          </a:r>
          <a:r>
            <a:rPr lang="en-US" sz="2800" kern="1200" dirty="0">
              <a:latin typeface="Calibri" panose="020F0502020204030204" pitchFamily="34" charset="0"/>
              <a:cs typeface="Calibri" panose="020F0502020204030204" pitchFamily="34" charset="0"/>
            </a:rPr>
            <a:t>Formula application, concept of mixtures, rule of </a:t>
          </a:r>
          <a:r>
            <a:rPr lang="en-US" sz="2800" kern="1200" dirty="0" err="1">
              <a:latin typeface="Calibri" panose="020F0502020204030204" pitchFamily="34" charset="0"/>
              <a:cs typeface="Calibri" panose="020F0502020204030204" pitchFamily="34" charset="0"/>
            </a:rPr>
            <a:t>alligation</a:t>
          </a:r>
          <a:r>
            <a:rPr lang="en-US" sz="2800" kern="1200" dirty="0">
              <a:latin typeface="Calibri" panose="020F0502020204030204" pitchFamily="34" charset="0"/>
              <a:cs typeface="Calibri" panose="020F0502020204030204" pitchFamily="34" charset="0"/>
            </a:rPr>
            <a:t> and replacement property.</a:t>
          </a:r>
          <a:endParaRPr lang="en-IN" sz="2800" kern="1200" dirty="0">
            <a:latin typeface="Calibri" panose="020F0502020204030204" pitchFamily="34" charset="0"/>
            <a:cs typeface="Calibri" panose="020F0502020204030204" pitchFamily="34" charset="0"/>
          </a:endParaRPr>
        </a:p>
        <a:p>
          <a:pPr marL="0" lvl="0" indent="0" algn="l" defTabSz="1244600">
            <a:lnSpc>
              <a:spcPct val="90000"/>
            </a:lnSpc>
            <a:spcBef>
              <a:spcPct val="0"/>
            </a:spcBef>
            <a:spcAft>
              <a:spcPct val="35000"/>
            </a:spcAft>
            <a:buNone/>
          </a:pPr>
          <a:endParaRPr lang="en-US" sz="2200" kern="1200" dirty="0">
            <a:latin typeface="Calibri" panose="020F0502020204030204" pitchFamily="34" charset="0"/>
            <a:cs typeface="Calibri" panose="020F0502020204030204" pitchFamily="34" charset="0"/>
          </a:endParaRPr>
        </a:p>
      </dsp:txBody>
      <dsp:txXfrm>
        <a:off x="1101839" y="2416117"/>
        <a:ext cx="6565939" cy="1817471"/>
      </dsp:txXfrm>
    </dsp:sp>
    <dsp:sp modelId="{C65C44E2-047F-4F51-A8DC-FF51C925FC7F}">
      <dsp:nvSpPr>
        <dsp:cNvPr id="0" name=""/>
        <dsp:cNvSpPr/>
      </dsp:nvSpPr>
      <dsp:spPr>
        <a:xfrm>
          <a:off x="8379147" y="1517634"/>
          <a:ext cx="1254863" cy="1254863"/>
        </a:xfrm>
        <a:prstGeom prst="downArrow">
          <a:avLst>
            <a:gd name="adj1" fmla="val 55000"/>
            <a:gd name="adj2" fmla="val 45000"/>
          </a:avLst>
        </a:prstGeom>
        <a:solidFill>
          <a:schemeClr val="accent2">
            <a:tint val="40000"/>
            <a:alpha val="90000"/>
            <a:hueOff val="0"/>
            <a:satOff val="0"/>
            <a:lumOff val="0"/>
            <a:alphaOff val="0"/>
          </a:schemeClr>
        </a:solidFill>
        <a:ln w="25400" cap="flat" cmpd="sng" algn="ctr">
          <a:solidFill>
            <a:schemeClr val="accent2">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1600200">
            <a:lnSpc>
              <a:spcPct val="90000"/>
            </a:lnSpc>
            <a:spcBef>
              <a:spcPct val="0"/>
            </a:spcBef>
            <a:spcAft>
              <a:spcPct val="35000"/>
            </a:spcAft>
            <a:buNone/>
          </a:pPr>
          <a:endParaRPr lang="en-US" sz="3600" kern="1200"/>
        </a:p>
      </dsp:txBody>
      <dsp:txXfrm>
        <a:off x="8661491" y="1517634"/>
        <a:ext cx="690175" cy="944284"/>
      </dsp:txXfrm>
    </dsp:sp>
  </dsp:spTree>
</dsp:drawing>
</file>

<file path=ppt/diagrams/layout1.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sz="1200" b="0" i="0" u="none" strike="noStrike" cap="none">
                <a:solidFill>
                  <a:schemeClr val="dk1"/>
                </a:solidFill>
                <a:latin typeface="Arial"/>
                <a:ea typeface="Arial"/>
                <a:cs typeface="Arial"/>
                <a:sym typeface="Arial"/>
              </a:rPr>
              <a:t>‹#›</a:t>
            </a:fld>
            <a:endParaRPr sz="1200" b="0" i="0" u="none" strike="noStrike" cap="none">
              <a:solidFill>
                <a:schemeClr val="dk1"/>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6" name="Google Shape;8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g33f0c0317a9_1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5" name="Google Shape;95;g33f0c0317a9_1_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6" name="Google Shape;96;g33f0c0317a9_1_0: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IN"/>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4" name="Google Shape;104;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p:cNvGrpSpPr/>
        <p:nvPr/>
      </p:nvGrpSpPr>
      <p:grpSpPr>
        <a:xfrm>
          <a:off x="0" y="0"/>
          <a:ext cx="0" cy="0"/>
          <a:chOff x="0" y="0"/>
          <a:chExt cx="0" cy="0"/>
        </a:xfrm>
      </p:grpSpPr>
      <p:sp>
        <p:nvSpPr>
          <p:cNvPr id="119" name="Google Shape;119;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0" name="Google Shape;120;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8" name="Google Shape;148;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p:cNvGrpSpPr/>
        <p:nvPr/>
      </p:nvGrpSpPr>
      <p:grpSpPr>
        <a:xfrm>
          <a:off x="0" y="0"/>
          <a:ext cx="0" cy="0"/>
          <a:chOff x="0" y="0"/>
          <a:chExt cx="0" cy="0"/>
        </a:xfrm>
      </p:grpSpPr>
      <p:sp>
        <p:nvSpPr>
          <p:cNvPr id="157" name="Google Shape;157;p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8" name="Google Shape;158;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p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8" name="Google Shape;168;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
        <p:cNvGrpSpPr/>
        <p:nvPr/>
      </p:nvGrpSpPr>
      <p:grpSpPr>
        <a:xfrm>
          <a:off x="0" y="0"/>
          <a:ext cx="0" cy="0"/>
          <a:chOff x="0" y="0"/>
          <a:chExt cx="0" cy="0"/>
        </a:xfrm>
      </p:grpSpPr>
      <p:sp>
        <p:nvSpPr>
          <p:cNvPr id="177" name="Google Shape;177;p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8" name="Google Shape;178;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p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87" name="Google Shape;187;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p1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96" name="Google Shape;196;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3"/>
        <p:cNvGrpSpPr/>
        <p:nvPr/>
      </p:nvGrpSpPr>
      <p:grpSpPr>
        <a:xfrm>
          <a:off x="0" y="0"/>
          <a:ext cx="0" cy="0"/>
          <a:chOff x="0" y="0"/>
          <a:chExt cx="0" cy="0"/>
        </a:xfrm>
      </p:grpSpPr>
      <p:sp>
        <p:nvSpPr>
          <p:cNvPr id="204" name="Google Shape;204;p1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5" name="Google Shape;205;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p:cNvGrpSpPr/>
        <p:nvPr/>
      </p:nvGrpSpPr>
      <p:grpSpPr>
        <a:xfrm>
          <a:off x="0" y="0"/>
          <a:ext cx="0" cy="0"/>
          <a:chOff x="0" y="0"/>
          <a:chExt cx="0" cy="0"/>
        </a:xfrm>
      </p:grpSpPr>
      <p:sp>
        <p:nvSpPr>
          <p:cNvPr id="213" name="Google Shape;213;p1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14" name="Google Shape;214;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
        <p:cNvGrpSpPr/>
        <p:nvPr/>
      </p:nvGrpSpPr>
      <p:grpSpPr>
        <a:xfrm>
          <a:off x="0" y="0"/>
          <a:ext cx="0" cy="0"/>
          <a:chOff x="0" y="0"/>
          <a:chExt cx="0" cy="0"/>
        </a:xfrm>
      </p:grpSpPr>
      <p:sp>
        <p:nvSpPr>
          <p:cNvPr id="222" name="Google Shape;222;p1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23" name="Google Shape;223;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
        <p:cNvGrpSpPr/>
        <p:nvPr/>
      </p:nvGrpSpPr>
      <p:grpSpPr>
        <a:xfrm>
          <a:off x="0" y="0"/>
          <a:ext cx="0" cy="0"/>
          <a:chOff x="0" y="0"/>
          <a:chExt cx="0" cy="0"/>
        </a:xfrm>
      </p:grpSpPr>
      <p:sp>
        <p:nvSpPr>
          <p:cNvPr id="231" name="Google Shape;231;p1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32" name="Google Shape;232;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
        <p:cNvGrpSpPr/>
        <p:nvPr/>
      </p:nvGrpSpPr>
      <p:grpSpPr>
        <a:xfrm>
          <a:off x="0" y="0"/>
          <a:ext cx="0" cy="0"/>
          <a:chOff x="0" y="0"/>
          <a:chExt cx="0" cy="0"/>
        </a:xfrm>
      </p:grpSpPr>
      <p:sp>
        <p:nvSpPr>
          <p:cNvPr id="240" name="Google Shape;240;p1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41" name="Google Shape;241;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8"/>
        <p:cNvGrpSpPr/>
        <p:nvPr/>
      </p:nvGrpSpPr>
      <p:grpSpPr>
        <a:xfrm>
          <a:off x="0" y="0"/>
          <a:ext cx="0" cy="0"/>
          <a:chOff x="0" y="0"/>
          <a:chExt cx="0" cy="0"/>
        </a:xfrm>
      </p:grpSpPr>
      <p:sp>
        <p:nvSpPr>
          <p:cNvPr id="249" name="Google Shape;249;p1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50" name="Google Shape;250;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7"/>
        <p:cNvGrpSpPr/>
        <p:nvPr/>
      </p:nvGrpSpPr>
      <p:grpSpPr>
        <a:xfrm>
          <a:off x="0" y="0"/>
          <a:ext cx="0" cy="0"/>
          <a:chOff x="0" y="0"/>
          <a:chExt cx="0" cy="0"/>
        </a:xfrm>
      </p:grpSpPr>
      <p:sp>
        <p:nvSpPr>
          <p:cNvPr id="258" name="Google Shape;258;p1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59" name="Google Shape;259;p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6"/>
        <p:cNvGrpSpPr/>
        <p:nvPr/>
      </p:nvGrpSpPr>
      <p:grpSpPr>
        <a:xfrm>
          <a:off x="0" y="0"/>
          <a:ext cx="0" cy="0"/>
          <a:chOff x="0" y="0"/>
          <a:chExt cx="0" cy="0"/>
        </a:xfrm>
      </p:grpSpPr>
      <p:sp>
        <p:nvSpPr>
          <p:cNvPr id="267" name="Google Shape;267;p1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68" name="Google Shape;268;p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5"/>
        <p:cNvGrpSpPr/>
        <p:nvPr/>
      </p:nvGrpSpPr>
      <p:grpSpPr>
        <a:xfrm>
          <a:off x="0" y="0"/>
          <a:ext cx="0" cy="0"/>
          <a:chOff x="0" y="0"/>
          <a:chExt cx="0" cy="0"/>
        </a:xfrm>
      </p:grpSpPr>
      <p:sp>
        <p:nvSpPr>
          <p:cNvPr id="276" name="Google Shape;276;p1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77" name="Google Shape;277;p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4"/>
        <p:cNvGrpSpPr/>
        <p:nvPr/>
      </p:nvGrpSpPr>
      <p:grpSpPr>
        <a:xfrm>
          <a:off x="0" y="0"/>
          <a:ext cx="0" cy="0"/>
          <a:chOff x="0" y="0"/>
          <a:chExt cx="0" cy="0"/>
        </a:xfrm>
      </p:grpSpPr>
      <p:sp>
        <p:nvSpPr>
          <p:cNvPr id="285" name="Google Shape;285;p2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86" name="Google Shape;286;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3"/>
        <p:cNvGrpSpPr/>
        <p:nvPr/>
      </p:nvGrpSpPr>
      <p:grpSpPr>
        <a:xfrm>
          <a:off x="0" y="0"/>
          <a:ext cx="0" cy="0"/>
          <a:chOff x="0" y="0"/>
          <a:chExt cx="0" cy="0"/>
        </a:xfrm>
      </p:grpSpPr>
      <p:sp>
        <p:nvSpPr>
          <p:cNvPr id="294" name="Google Shape;294;p2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95" name="Google Shape;295;p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2"/>
        <p:cNvGrpSpPr/>
        <p:nvPr/>
      </p:nvGrpSpPr>
      <p:grpSpPr>
        <a:xfrm>
          <a:off x="0" y="0"/>
          <a:ext cx="0" cy="0"/>
          <a:chOff x="0" y="0"/>
          <a:chExt cx="0" cy="0"/>
        </a:xfrm>
      </p:grpSpPr>
      <p:sp>
        <p:nvSpPr>
          <p:cNvPr id="303" name="Google Shape;303;p2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04" name="Google Shape;304;p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1"/>
        <p:cNvGrpSpPr/>
        <p:nvPr/>
      </p:nvGrpSpPr>
      <p:grpSpPr>
        <a:xfrm>
          <a:off x="0" y="0"/>
          <a:ext cx="0" cy="0"/>
          <a:chOff x="0" y="0"/>
          <a:chExt cx="0" cy="0"/>
        </a:xfrm>
      </p:grpSpPr>
      <p:sp>
        <p:nvSpPr>
          <p:cNvPr id="312" name="Google Shape;312;p2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13" name="Google Shape;313;p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0"/>
        <p:cNvGrpSpPr/>
        <p:nvPr/>
      </p:nvGrpSpPr>
      <p:grpSpPr>
        <a:xfrm>
          <a:off x="0" y="0"/>
          <a:ext cx="0" cy="0"/>
          <a:chOff x="0" y="0"/>
          <a:chExt cx="0" cy="0"/>
        </a:xfrm>
      </p:grpSpPr>
      <p:sp>
        <p:nvSpPr>
          <p:cNvPr id="321" name="Google Shape;321;p2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22" name="Google Shape;322;p2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9"/>
        <p:cNvGrpSpPr/>
        <p:nvPr/>
      </p:nvGrpSpPr>
      <p:grpSpPr>
        <a:xfrm>
          <a:off x="0" y="0"/>
          <a:ext cx="0" cy="0"/>
          <a:chOff x="0" y="0"/>
          <a:chExt cx="0" cy="0"/>
        </a:xfrm>
      </p:grpSpPr>
      <p:sp>
        <p:nvSpPr>
          <p:cNvPr id="330" name="Google Shape;330;p2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31" name="Google Shape;331;p2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8"/>
        <p:cNvGrpSpPr/>
        <p:nvPr/>
      </p:nvGrpSpPr>
      <p:grpSpPr>
        <a:xfrm>
          <a:off x="0" y="0"/>
          <a:ext cx="0" cy="0"/>
          <a:chOff x="0" y="0"/>
          <a:chExt cx="0" cy="0"/>
        </a:xfrm>
      </p:grpSpPr>
      <p:sp>
        <p:nvSpPr>
          <p:cNvPr id="339" name="Google Shape;339;p2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40" name="Google Shape;340;p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7"/>
        <p:cNvGrpSpPr/>
        <p:nvPr/>
      </p:nvGrpSpPr>
      <p:grpSpPr>
        <a:xfrm>
          <a:off x="0" y="0"/>
          <a:ext cx="0" cy="0"/>
          <a:chOff x="0" y="0"/>
          <a:chExt cx="0" cy="0"/>
        </a:xfrm>
      </p:grpSpPr>
      <p:sp>
        <p:nvSpPr>
          <p:cNvPr id="348" name="Google Shape;348;p2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49" name="Google Shape;349;p2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6"/>
        <p:cNvGrpSpPr/>
        <p:nvPr/>
      </p:nvGrpSpPr>
      <p:grpSpPr>
        <a:xfrm>
          <a:off x="0" y="0"/>
          <a:ext cx="0" cy="0"/>
          <a:chOff x="0" y="0"/>
          <a:chExt cx="0" cy="0"/>
        </a:xfrm>
      </p:grpSpPr>
      <p:sp>
        <p:nvSpPr>
          <p:cNvPr id="357" name="Google Shape;357;p2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58" name="Google Shape;358;p2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5"/>
        <p:cNvGrpSpPr/>
        <p:nvPr/>
      </p:nvGrpSpPr>
      <p:grpSpPr>
        <a:xfrm>
          <a:off x="0" y="0"/>
          <a:ext cx="0" cy="0"/>
          <a:chOff x="0" y="0"/>
          <a:chExt cx="0" cy="0"/>
        </a:xfrm>
      </p:grpSpPr>
      <p:sp>
        <p:nvSpPr>
          <p:cNvPr id="366" name="Google Shape;366;p2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67" name="Google Shape;367;p2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4"/>
        <p:cNvGrpSpPr/>
        <p:nvPr/>
      </p:nvGrpSpPr>
      <p:grpSpPr>
        <a:xfrm>
          <a:off x="0" y="0"/>
          <a:ext cx="0" cy="0"/>
          <a:chOff x="0" y="0"/>
          <a:chExt cx="0" cy="0"/>
        </a:xfrm>
      </p:grpSpPr>
      <p:sp>
        <p:nvSpPr>
          <p:cNvPr id="375" name="Google Shape;375;p3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76" name="Google Shape;376;p3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3"/>
        <p:cNvGrpSpPr/>
        <p:nvPr/>
      </p:nvGrpSpPr>
      <p:grpSpPr>
        <a:xfrm>
          <a:off x="0" y="0"/>
          <a:ext cx="0" cy="0"/>
          <a:chOff x="0" y="0"/>
          <a:chExt cx="0" cy="0"/>
        </a:xfrm>
      </p:grpSpPr>
      <p:sp>
        <p:nvSpPr>
          <p:cNvPr id="384" name="Google Shape;384;p3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85" name="Google Shape;385;p3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2"/>
        <p:cNvGrpSpPr/>
        <p:nvPr/>
      </p:nvGrpSpPr>
      <p:grpSpPr>
        <a:xfrm>
          <a:off x="0" y="0"/>
          <a:ext cx="0" cy="0"/>
          <a:chOff x="0" y="0"/>
          <a:chExt cx="0" cy="0"/>
        </a:xfrm>
      </p:grpSpPr>
      <p:sp>
        <p:nvSpPr>
          <p:cNvPr id="393" name="Google Shape;393;p3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94" name="Google Shape;394;p3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1"/>
        <p:cNvGrpSpPr/>
        <p:nvPr/>
      </p:nvGrpSpPr>
      <p:grpSpPr>
        <a:xfrm>
          <a:off x="0" y="0"/>
          <a:ext cx="0" cy="0"/>
          <a:chOff x="0" y="0"/>
          <a:chExt cx="0" cy="0"/>
        </a:xfrm>
      </p:grpSpPr>
      <p:sp>
        <p:nvSpPr>
          <p:cNvPr id="402" name="Google Shape;402;p3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03" name="Google Shape;403;p3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1"/>
        <p:cNvGrpSpPr/>
        <p:nvPr/>
      </p:nvGrpSpPr>
      <p:grpSpPr>
        <a:xfrm>
          <a:off x="0" y="0"/>
          <a:ext cx="0" cy="0"/>
          <a:chOff x="0" y="0"/>
          <a:chExt cx="0" cy="0"/>
        </a:xfrm>
      </p:grpSpPr>
      <p:sp>
        <p:nvSpPr>
          <p:cNvPr id="402" name="Google Shape;402;p3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03" name="Google Shape;403;p3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17304083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1"/>
        <p:cNvGrpSpPr/>
        <p:nvPr/>
      </p:nvGrpSpPr>
      <p:grpSpPr>
        <a:xfrm>
          <a:off x="0" y="0"/>
          <a:ext cx="0" cy="0"/>
          <a:chOff x="0" y="0"/>
          <a:chExt cx="0" cy="0"/>
        </a:xfrm>
      </p:grpSpPr>
      <p:sp>
        <p:nvSpPr>
          <p:cNvPr id="402" name="Google Shape;402;p3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03" name="Google Shape;403;p3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42922885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1"/>
        <p:cNvGrpSpPr/>
        <p:nvPr/>
      </p:nvGrpSpPr>
      <p:grpSpPr>
        <a:xfrm>
          <a:off x="0" y="0"/>
          <a:ext cx="0" cy="0"/>
          <a:chOff x="0" y="0"/>
          <a:chExt cx="0" cy="0"/>
        </a:xfrm>
      </p:grpSpPr>
      <p:sp>
        <p:nvSpPr>
          <p:cNvPr id="402" name="Google Shape;402;p3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03" name="Google Shape;403;p3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25431935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1"/>
        <p:cNvGrpSpPr/>
        <p:nvPr/>
      </p:nvGrpSpPr>
      <p:grpSpPr>
        <a:xfrm>
          <a:off x="0" y="0"/>
          <a:ext cx="0" cy="0"/>
          <a:chOff x="0" y="0"/>
          <a:chExt cx="0" cy="0"/>
        </a:xfrm>
      </p:grpSpPr>
      <p:sp>
        <p:nvSpPr>
          <p:cNvPr id="402" name="Google Shape;402;p3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03" name="Google Shape;403;p3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4148976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43"/>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Play"/>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43"/>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8" name="Google Shape;18;p4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4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 name="Google Shape;20;p4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4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44"/>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4" name="Google Shape;24;p4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4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4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45"/>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Play"/>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45"/>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757575"/>
              </a:buClr>
              <a:buSzPts val="2400"/>
              <a:buNone/>
              <a:defRPr sz="2400">
                <a:solidFill>
                  <a:srgbClr val="757575"/>
                </a:solidFill>
              </a:defRPr>
            </a:lvl1pPr>
            <a:lvl2pPr marL="914400" lvl="1" indent="-228600" algn="l">
              <a:lnSpc>
                <a:spcPct val="90000"/>
              </a:lnSpc>
              <a:spcBef>
                <a:spcPts val="500"/>
              </a:spcBef>
              <a:spcAft>
                <a:spcPts val="0"/>
              </a:spcAft>
              <a:buClr>
                <a:srgbClr val="757575"/>
              </a:buClr>
              <a:buSzPts val="2000"/>
              <a:buNone/>
              <a:defRPr sz="2000">
                <a:solidFill>
                  <a:srgbClr val="757575"/>
                </a:solidFill>
              </a:defRPr>
            </a:lvl2pPr>
            <a:lvl3pPr marL="1371600" lvl="2" indent="-228600" algn="l">
              <a:lnSpc>
                <a:spcPct val="90000"/>
              </a:lnSpc>
              <a:spcBef>
                <a:spcPts val="500"/>
              </a:spcBef>
              <a:spcAft>
                <a:spcPts val="0"/>
              </a:spcAft>
              <a:buClr>
                <a:srgbClr val="757575"/>
              </a:buClr>
              <a:buSzPts val="1800"/>
              <a:buNone/>
              <a:defRPr sz="1800">
                <a:solidFill>
                  <a:srgbClr val="757575"/>
                </a:solidFill>
              </a:defRPr>
            </a:lvl3pPr>
            <a:lvl4pPr marL="1828800" lvl="3" indent="-228600" algn="l">
              <a:lnSpc>
                <a:spcPct val="90000"/>
              </a:lnSpc>
              <a:spcBef>
                <a:spcPts val="500"/>
              </a:spcBef>
              <a:spcAft>
                <a:spcPts val="0"/>
              </a:spcAft>
              <a:buClr>
                <a:srgbClr val="757575"/>
              </a:buClr>
              <a:buSzPts val="1600"/>
              <a:buNone/>
              <a:defRPr sz="1600">
                <a:solidFill>
                  <a:srgbClr val="757575"/>
                </a:solidFill>
              </a:defRPr>
            </a:lvl4pPr>
            <a:lvl5pPr marL="2286000" lvl="4" indent="-228600" algn="l">
              <a:lnSpc>
                <a:spcPct val="90000"/>
              </a:lnSpc>
              <a:spcBef>
                <a:spcPts val="500"/>
              </a:spcBef>
              <a:spcAft>
                <a:spcPts val="0"/>
              </a:spcAft>
              <a:buClr>
                <a:srgbClr val="757575"/>
              </a:buClr>
              <a:buSzPts val="1600"/>
              <a:buNone/>
              <a:defRPr sz="1600">
                <a:solidFill>
                  <a:srgbClr val="757575"/>
                </a:solidFill>
              </a:defRPr>
            </a:lvl5pPr>
            <a:lvl6pPr marL="2743200" lvl="5" indent="-228600" algn="l">
              <a:lnSpc>
                <a:spcPct val="90000"/>
              </a:lnSpc>
              <a:spcBef>
                <a:spcPts val="500"/>
              </a:spcBef>
              <a:spcAft>
                <a:spcPts val="0"/>
              </a:spcAft>
              <a:buClr>
                <a:srgbClr val="757575"/>
              </a:buClr>
              <a:buSzPts val="1600"/>
              <a:buNone/>
              <a:defRPr sz="1600">
                <a:solidFill>
                  <a:srgbClr val="757575"/>
                </a:solidFill>
              </a:defRPr>
            </a:lvl6pPr>
            <a:lvl7pPr marL="3200400" lvl="6" indent="-228600" algn="l">
              <a:lnSpc>
                <a:spcPct val="90000"/>
              </a:lnSpc>
              <a:spcBef>
                <a:spcPts val="500"/>
              </a:spcBef>
              <a:spcAft>
                <a:spcPts val="0"/>
              </a:spcAft>
              <a:buClr>
                <a:srgbClr val="757575"/>
              </a:buClr>
              <a:buSzPts val="1600"/>
              <a:buNone/>
              <a:defRPr sz="1600">
                <a:solidFill>
                  <a:srgbClr val="757575"/>
                </a:solidFill>
              </a:defRPr>
            </a:lvl7pPr>
            <a:lvl8pPr marL="3657600" lvl="7" indent="-228600" algn="l">
              <a:lnSpc>
                <a:spcPct val="90000"/>
              </a:lnSpc>
              <a:spcBef>
                <a:spcPts val="500"/>
              </a:spcBef>
              <a:spcAft>
                <a:spcPts val="0"/>
              </a:spcAft>
              <a:buClr>
                <a:srgbClr val="757575"/>
              </a:buClr>
              <a:buSzPts val="1600"/>
              <a:buNone/>
              <a:defRPr sz="1600">
                <a:solidFill>
                  <a:srgbClr val="757575"/>
                </a:solidFill>
              </a:defRPr>
            </a:lvl8pPr>
            <a:lvl9pPr marL="4114800" lvl="8" indent="-228600" algn="l">
              <a:lnSpc>
                <a:spcPct val="90000"/>
              </a:lnSpc>
              <a:spcBef>
                <a:spcPts val="500"/>
              </a:spcBef>
              <a:spcAft>
                <a:spcPts val="0"/>
              </a:spcAft>
              <a:buClr>
                <a:srgbClr val="757575"/>
              </a:buClr>
              <a:buSzPts val="1600"/>
              <a:buNone/>
              <a:defRPr sz="1600">
                <a:solidFill>
                  <a:srgbClr val="757575"/>
                </a:solidFill>
              </a:defRPr>
            </a:lvl9pPr>
          </a:lstStyle>
          <a:p>
            <a:endParaRPr/>
          </a:p>
        </p:txBody>
      </p:sp>
      <p:sp>
        <p:nvSpPr>
          <p:cNvPr id="30" name="Google Shape;30;p4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4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4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4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46"/>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6" name="Google Shape;36;p46"/>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7" name="Google Shape;37;p4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4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9" name="Google Shape;39;p4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47"/>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47"/>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3" name="Google Shape;43;p47"/>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4" name="Google Shape;44;p47"/>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5" name="Google Shape;45;p47"/>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6" name="Google Shape;46;p4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4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4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4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4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4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4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4"/>
        <p:cNvGrpSpPr/>
        <p:nvPr/>
      </p:nvGrpSpPr>
      <p:grpSpPr>
        <a:xfrm>
          <a:off x="0" y="0"/>
          <a:ext cx="0" cy="0"/>
          <a:chOff x="0" y="0"/>
          <a:chExt cx="0" cy="0"/>
        </a:xfrm>
      </p:grpSpPr>
      <p:sp>
        <p:nvSpPr>
          <p:cNvPr id="55" name="Google Shape;55;p4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4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4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5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Play"/>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50"/>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1" name="Google Shape;61;p50"/>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2" name="Google Shape;62;p5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5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4" name="Google Shape;64;p5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51"/>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Play"/>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51"/>
          <p:cNvSpPr>
            <a:spLocks noGrp="1"/>
          </p:cNvSpPr>
          <p:nvPr>
            <p:ph type="pic" idx="2"/>
          </p:nvPr>
        </p:nvSpPr>
        <p:spPr>
          <a:xfrm>
            <a:off x="5183188" y="987425"/>
            <a:ext cx="6172200" cy="4873625"/>
          </a:xfrm>
          <a:prstGeom prst="rect">
            <a:avLst/>
          </a:prstGeom>
          <a:noFill/>
          <a:ln>
            <a:noFill/>
          </a:ln>
        </p:spPr>
      </p:sp>
      <p:sp>
        <p:nvSpPr>
          <p:cNvPr id="68" name="Google Shape;68;p51"/>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5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5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5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5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4" name="Google Shape;74;p52"/>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5" name="Google Shape;75;p5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5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5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53"/>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0" name="Google Shape;80;p53"/>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1" name="Google Shape;81;p5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2" name="Google Shape;82;p5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5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4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lay"/>
              <a:buNone/>
              <a:defRPr sz="4400" b="0" i="0" u="none" strike="noStrike" cap="none">
                <a:solidFill>
                  <a:schemeClr val="dk1"/>
                </a:solidFill>
                <a:latin typeface="Play"/>
                <a:ea typeface="Play"/>
                <a:cs typeface="Play"/>
                <a:sym typeface="Play"/>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42"/>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2" name="Google Shape;12;p4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757575"/>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3" name="Google Shape;13;p4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757575"/>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4" name="Google Shape;14;p4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IN"/>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jp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2.jpg"/></Relationships>
</file>

<file path=ppt/slides/_rels/slide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2.jpg"/></Relationships>
</file>

<file path=ppt/slides/_rels/slide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2.jpg"/></Relationships>
</file>

<file path=ppt/slides/_rels/slide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2.jpg"/></Relationships>
</file>

<file path=ppt/slides/_rels/slide7.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4.jpg"/><Relationship Id="rId4" Type="http://schemas.openxmlformats.org/officeDocument/2006/relationships/image" Target="../media/image2.jpg"/></Relationships>
</file>

<file path=ppt/slides/_rels/slide8.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2.jpg"/></Relationships>
</file>

<file path=ppt/slides/_rels/slide9.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2.jpg"/></Relationships>
</file>

<file path=ppt/slides/_rels/slide10.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2.jpg"/></Relationships>
</file>

<file path=ppt/slides/_rels/slide1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2.jpg"/></Relationships>
</file>

<file path=ppt/slides/_rels/slide1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2.jpg"/></Relationships>
</file>

<file path=ppt/slides/_rels/slide1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2.jpg"/></Relationships>
</file>

<file path=ppt/slides/_rels/slide1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2.jpg"/></Relationships>
</file>

<file path=ppt/slides/_rels/slide1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2.jpg"/></Relationships>
</file>

<file path=ppt/slides/_rels/slide1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2.jpg"/></Relationships>
</file>

<file path=ppt/slides/_rels/slide17.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2.jpg"/></Relationships>
</file>

<file path=ppt/slides/_rels/slide18.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2.jpg"/></Relationships>
</file>

<file path=ppt/slides/_rels/slide19.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2.jpg"/></Relationships>
</file>

<file path=ppt/slides/_rels/slide20.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2.jpg"/></Relationships>
</file>

<file path=ppt/slides/_rels/slide2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2.jpg"/></Relationships>
</file>

<file path=ppt/slides/_rels/slide2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2.jpg"/></Relationships>
</file>

<file path=ppt/slides/_rels/slide2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2.jpg"/></Relationships>
</file>

<file path=ppt/slides/_rels/slide2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2.jpg"/></Relationships>
</file>

<file path=ppt/slides/_rels/slide2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2.jpg"/></Relationships>
</file>

<file path=ppt/slides/_rels/slide2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2.jpg"/></Relationships>
</file>

<file path=ppt/slides/_rels/slide27.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7.xml"/><Relationship Id="rId1" Type="http://schemas.openxmlformats.org/officeDocument/2006/relationships/slideLayout" Target="../slideLayouts/slideLayout2.xml"/><Relationship Id="rId4" Type="http://schemas.openxmlformats.org/officeDocument/2006/relationships/image" Target="../media/image2.jpg"/></Relationships>
</file>

<file path=ppt/slides/_rels/slide28.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image" Target="../media/image2.jpg"/></Relationships>
</file>

<file path=ppt/slides/_rels/slide29.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9.xml"/><Relationship Id="rId1" Type="http://schemas.openxmlformats.org/officeDocument/2006/relationships/slideLayout" Target="../slideLayouts/slideLayout2.xml"/><Relationship Id="rId4" Type="http://schemas.openxmlformats.org/officeDocument/2006/relationships/image" Target="../media/image2.jpg"/></Relationships>
</file>

<file path=ppt/slides/_rels/slide30.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0.xml"/><Relationship Id="rId1" Type="http://schemas.openxmlformats.org/officeDocument/2006/relationships/slideLayout" Target="../slideLayouts/slideLayout2.xml"/><Relationship Id="rId4" Type="http://schemas.openxmlformats.org/officeDocument/2006/relationships/image" Target="../media/image2.jpg"/></Relationships>
</file>

<file path=ppt/slides/_rels/slide3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1.xml"/><Relationship Id="rId1" Type="http://schemas.openxmlformats.org/officeDocument/2006/relationships/slideLayout" Target="../slideLayouts/slideLayout2.xml"/><Relationship Id="rId4" Type="http://schemas.openxmlformats.org/officeDocument/2006/relationships/image" Target="../media/image2.jpg"/></Relationships>
</file>

<file path=ppt/slides/_rels/slide3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2.xml"/><Relationship Id="rId1" Type="http://schemas.openxmlformats.org/officeDocument/2006/relationships/slideLayout" Target="../slideLayouts/slideLayout2.xml"/><Relationship Id="rId4" Type="http://schemas.openxmlformats.org/officeDocument/2006/relationships/image" Target="../media/image2.jpg"/></Relationships>
</file>

<file path=ppt/slides/_rels/slide3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3.xml"/><Relationship Id="rId1" Type="http://schemas.openxmlformats.org/officeDocument/2006/relationships/slideLayout" Target="../slideLayouts/slideLayout2.xml"/><Relationship Id="rId4" Type="http://schemas.openxmlformats.org/officeDocument/2006/relationships/image" Target="../media/image2.jpg"/></Relationships>
</file>

<file path=ppt/slides/_rels/slide3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4.xml"/><Relationship Id="rId1" Type="http://schemas.openxmlformats.org/officeDocument/2006/relationships/slideLayout" Target="../slideLayouts/slideLayout2.xml"/><Relationship Id="rId4" Type="http://schemas.openxmlformats.org/officeDocument/2006/relationships/image" Target="../media/image2.jpg"/></Relationships>
</file>

<file path=ppt/slides/_rels/slide35.xml.rels><?xml version="1.0" encoding="UTF-8" standalone="yes"?>
<Relationships xmlns="http://schemas.openxmlformats.org/package/2006/relationships"><Relationship Id="rId8" Type="http://schemas.openxmlformats.org/officeDocument/2006/relationships/diagramColors" Target="../diagrams/colors1.xml"/><Relationship Id="rId3" Type="http://schemas.openxmlformats.org/officeDocument/2006/relationships/image" Target="../media/image1.jpg"/><Relationship Id="rId7" Type="http://schemas.openxmlformats.org/officeDocument/2006/relationships/diagramQuickStyle" Target="../diagrams/quickStyle1.xml"/><Relationship Id="rId2" Type="http://schemas.openxmlformats.org/officeDocument/2006/relationships/notesSlide" Target="../notesSlides/notesSlide35.xml"/><Relationship Id="rId1" Type="http://schemas.openxmlformats.org/officeDocument/2006/relationships/slideLayout" Target="../slideLayouts/slideLayout2.xml"/><Relationship Id="rId6" Type="http://schemas.openxmlformats.org/officeDocument/2006/relationships/diagramLayout" Target="../diagrams/layout1.xml"/><Relationship Id="rId5" Type="http://schemas.openxmlformats.org/officeDocument/2006/relationships/diagramData" Target="../diagrams/data1.xml"/><Relationship Id="rId4" Type="http://schemas.openxmlformats.org/officeDocument/2006/relationships/image" Target="../media/image2.jpg"/><Relationship Id="rId9" Type="http://schemas.microsoft.com/office/2007/relationships/diagramDrawing" Target="../diagrams/drawing1.xml"/></Relationships>
</file>

<file path=ppt/slides/_rels/slide3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6.xml"/><Relationship Id="rId1" Type="http://schemas.openxmlformats.org/officeDocument/2006/relationships/slideLayout" Target="../slideLayouts/slideLayout2.xml"/><Relationship Id="rId4" Type="http://schemas.openxmlformats.org/officeDocument/2006/relationships/image" Target="../media/image2.jpg"/></Relationships>
</file>

<file path=ppt/slides/_rels/slide37.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7.xml"/><Relationship Id="rId1" Type="http://schemas.openxmlformats.org/officeDocument/2006/relationships/slideLayout" Target="../slideLayouts/slideLayout2.xml"/><Relationship Id="rId4" Type="http://schemas.openxmlformats.org/officeDocument/2006/relationships/image" Target="../media/image2.jp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87"/>
        <p:cNvGrpSpPr/>
        <p:nvPr/>
      </p:nvGrpSpPr>
      <p:grpSpPr>
        <a:xfrm>
          <a:off x="0" y="0"/>
          <a:ext cx="0" cy="0"/>
          <a:chOff x="0" y="0"/>
          <a:chExt cx="0" cy="0"/>
        </a:xfrm>
      </p:grpSpPr>
      <p:sp>
        <p:nvSpPr>
          <p:cNvPr id="88" name="Google Shape;88;p1"/>
          <p:cNvSpPr txBox="1">
            <a:spLocks noGrp="1"/>
          </p:cNvSpPr>
          <p:nvPr>
            <p:ph type="ctrTitle"/>
          </p:nvPr>
        </p:nvSpPr>
        <p:spPr>
          <a:xfrm>
            <a:off x="477980" y="1122362"/>
            <a:ext cx="10751673" cy="5558885"/>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rgbClr val="000000"/>
              </a:buClr>
              <a:buSzPts val="3600"/>
              <a:buFont typeface="Arial"/>
              <a:buNone/>
            </a:pPr>
            <a:r>
              <a:rPr lang="en-IN" sz="3600" b="1">
                <a:solidFill>
                  <a:srgbClr val="000000"/>
                </a:solidFill>
                <a:latin typeface="Arial"/>
                <a:ea typeface="Arial"/>
                <a:cs typeface="Arial"/>
                <a:sym typeface="Arial"/>
              </a:rPr>
              <a:t>Average ,Mixture and Alligation.</a:t>
            </a:r>
            <a:br>
              <a:rPr lang="en-IN" sz="4800" b="1">
                <a:latin typeface="Georgia"/>
                <a:ea typeface="Georgia"/>
                <a:cs typeface="Georgia"/>
                <a:sym typeface="Georgia"/>
              </a:rPr>
            </a:br>
            <a:br>
              <a:rPr lang="en-IN" sz="4800" b="1">
                <a:latin typeface="Georgia"/>
                <a:ea typeface="Georgia"/>
                <a:cs typeface="Georgia"/>
                <a:sym typeface="Georgia"/>
              </a:rPr>
            </a:br>
            <a:br>
              <a:rPr lang="en-IN" sz="4800" b="1">
                <a:latin typeface="Georgia"/>
                <a:ea typeface="Georgia"/>
                <a:cs typeface="Georgia"/>
                <a:sym typeface="Georgia"/>
              </a:rPr>
            </a:br>
            <a:br>
              <a:rPr lang="en-IN" sz="4800" b="1">
                <a:latin typeface="Georgia"/>
                <a:ea typeface="Georgia"/>
                <a:cs typeface="Georgia"/>
                <a:sym typeface="Georgia"/>
              </a:rPr>
            </a:br>
            <a:r>
              <a:rPr lang="en-IN" sz="1800" b="1">
                <a:latin typeface="Georgia"/>
                <a:ea typeface="Georgia"/>
                <a:cs typeface="Georgia"/>
                <a:sym typeface="Georgia"/>
              </a:rPr>
              <a:t>Session No.: 02</a:t>
            </a:r>
            <a:br>
              <a:rPr lang="en-IN" sz="1800" b="1">
                <a:latin typeface="Georgia"/>
                <a:ea typeface="Georgia"/>
                <a:cs typeface="Georgia"/>
                <a:sym typeface="Georgia"/>
              </a:rPr>
            </a:br>
            <a:r>
              <a:rPr lang="en-IN" sz="1800" b="1">
                <a:latin typeface="Georgia"/>
                <a:ea typeface="Georgia"/>
                <a:cs typeface="Georgia"/>
                <a:sym typeface="Georgia"/>
              </a:rPr>
              <a:t>Course Name: </a:t>
            </a:r>
            <a:r>
              <a:rPr lang="en-IN" sz="1800" b="1">
                <a:latin typeface="Calibri"/>
                <a:ea typeface="Calibri"/>
                <a:cs typeface="Calibri"/>
                <a:sym typeface="Calibri"/>
              </a:rPr>
              <a:t>Professional Readiness</a:t>
            </a:r>
            <a:br>
              <a:rPr lang="en-IN" sz="1800" b="1">
                <a:latin typeface="Georgia"/>
                <a:ea typeface="Georgia"/>
                <a:cs typeface="Georgia"/>
                <a:sym typeface="Georgia"/>
              </a:rPr>
            </a:br>
            <a:r>
              <a:rPr lang="en-IN" sz="1800" b="1">
                <a:latin typeface="Georgia"/>
                <a:ea typeface="Georgia"/>
                <a:cs typeface="Georgia"/>
                <a:sym typeface="Georgia"/>
              </a:rPr>
              <a:t>Course Code: </a:t>
            </a:r>
            <a:r>
              <a:rPr lang="en-IN" sz="1800" b="1">
                <a:latin typeface="Calibri"/>
                <a:ea typeface="Calibri"/>
                <a:cs typeface="Calibri"/>
                <a:sym typeface="Calibri"/>
              </a:rPr>
              <a:t>O1UA603L</a:t>
            </a:r>
            <a:br>
              <a:rPr lang="en-IN" sz="1800" b="1">
                <a:latin typeface="Georgia"/>
                <a:ea typeface="Georgia"/>
                <a:cs typeface="Georgia"/>
                <a:sym typeface="Georgia"/>
              </a:rPr>
            </a:br>
            <a:r>
              <a:rPr lang="en-IN" sz="1800" b="1">
                <a:latin typeface="Georgia"/>
                <a:ea typeface="Georgia"/>
                <a:cs typeface="Georgia"/>
                <a:sym typeface="Georgia"/>
              </a:rPr>
              <a:t>Instructor Name: Dharmendra kumar</a:t>
            </a:r>
            <a:br>
              <a:rPr lang="en-IN" sz="1800" b="1">
                <a:latin typeface="Georgia"/>
                <a:ea typeface="Georgia"/>
                <a:cs typeface="Georgia"/>
                <a:sym typeface="Georgia"/>
              </a:rPr>
            </a:br>
            <a:r>
              <a:rPr lang="en-IN" sz="1800" b="1">
                <a:latin typeface="Georgia"/>
                <a:ea typeface="Georgia"/>
                <a:cs typeface="Georgia"/>
                <a:sym typeface="Georgia"/>
              </a:rPr>
              <a:t>Duration: 50 min</a:t>
            </a:r>
            <a:br>
              <a:rPr lang="en-IN" sz="1800" b="1">
                <a:latin typeface="Georgia"/>
                <a:ea typeface="Georgia"/>
                <a:cs typeface="Georgia"/>
                <a:sym typeface="Georgia"/>
              </a:rPr>
            </a:br>
            <a:r>
              <a:rPr lang="en-IN" sz="1800" b="1">
                <a:latin typeface="Georgia"/>
                <a:ea typeface="Georgia"/>
                <a:cs typeface="Georgia"/>
                <a:sym typeface="Georgia"/>
              </a:rPr>
              <a:t>Date of Conduction of Class: 0</a:t>
            </a:r>
            <a:br>
              <a:rPr lang="en-IN" sz="1800" b="1">
                <a:latin typeface="Georgia"/>
                <a:ea typeface="Georgia"/>
                <a:cs typeface="Georgia"/>
                <a:sym typeface="Georgia"/>
              </a:rPr>
            </a:br>
            <a:br>
              <a:rPr lang="en-IN" sz="1800" b="1">
                <a:latin typeface="Georgia"/>
                <a:ea typeface="Georgia"/>
                <a:cs typeface="Georgia"/>
                <a:sym typeface="Georgia"/>
              </a:rPr>
            </a:br>
            <a:endParaRPr sz="4800" b="1">
              <a:latin typeface="Georgia"/>
              <a:ea typeface="Georgia"/>
              <a:cs typeface="Georgia"/>
              <a:sym typeface="Georgia"/>
            </a:endParaRPr>
          </a:p>
        </p:txBody>
      </p:sp>
      <p:sp>
        <p:nvSpPr>
          <p:cNvPr id="89" name="Google Shape;89;p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IN"/>
              <a:t>Galgotias University</a:t>
            </a:r>
            <a:endParaRPr/>
          </a:p>
        </p:txBody>
      </p:sp>
      <p:sp>
        <p:nvSpPr>
          <p:cNvPr id="90" name="Google Shape;90;p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IN"/>
              <a:t>1</a:t>
            </a:fld>
            <a:endParaRPr/>
          </a:p>
        </p:txBody>
      </p:sp>
      <p:pic>
        <p:nvPicPr>
          <p:cNvPr id="91" name="Google Shape;91;p1" descr="A blue circle with text and words&#10;&#10;Description automatically generated"/>
          <p:cNvPicPr preferRelativeResize="0"/>
          <p:nvPr/>
        </p:nvPicPr>
        <p:blipFill rotWithShape="1">
          <a:blip r:embed="rId3">
            <a:alphaModFix/>
          </a:blip>
          <a:srcRect/>
          <a:stretch/>
        </p:blipFill>
        <p:spPr>
          <a:xfrm>
            <a:off x="10758565" y="176753"/>
            <a:ext cx="1190469" cy="1190469"/>
          </a:xfrm>
          <a:prstGeom prst="rect">
            <a:avLst/>
          </a:prstGeom>
          <a:noFill/>
          <a:ln>
            <a:noFill/>
          </a:ln>
        </p:spPr>
      </p:pic>
      <p:pic>
        <p:nvPicPr>
          <p:cNvPr id="92" name="Google Shape;92;p1"/>
          <p:cNvPicPr preferRelativeResize="0"/>
          <p:nvPr/>
        </p:nvPicPr>
        <p:blipFill rotWithShape="1">
          <a:blip r:embed="rId4">
            <a:alphaModFix/>
          </a:blip>
          <a:srcRect/>
          <a:stretch/>
        </p:blipFill>
        <p:spPr>
          <a:xfrm>
            <a:off x="104932" y="114202"/>
            <a:ext cx="3795634" cy="740238"/>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sp>
        <p:nvSpPr>
          <p:cNvPr id="100" name="Google Shape;100;g33f0c0317a9_1_0"/>
          <p:cNvSpPr txBox="1">
            <a:spLocks noGrp="1"/>
          </p:cNvSpPr>
          <p:nvPr>
            <p:ph type="sldNum" idx="12"/>
          </p:nvPr>
        </p:nvSpPr>
        <p:spPr>
          <a:xfrm>
            <a:off x="8610600" y="6356350"/>
            <a:ext cx="27432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IN"/>
              <a:t>2</a:t>
            </a:fld>
            <a:endParaRPr/>
          </a:p>
        </p:txBody>
      </p:sp>
      <p:pic>
        <p:nvPicPr>
          <p:cNvPr id="3" name="Picture 2">
            <a:extLst>
              <a:ext uri="{FF2B5EF4-FFF2-40B4-BE49-F238E27FC236}">
                <a16:creationId xmlns:a16="http://schemas.microsoft.com/office/drawing/2014/main" id="{2F0F749C-7055-CBAE-271B-30D17EB52C26}"/>
              </a:ext>
            </a:extLst>
          </p:cNvPr>
          <p:cNvPicPr>
            <a:picLocks noChangeAspect="1"/>
          </p:cNvPicPr>
          <p:nvPr/>
        </p:nvPicPr>
        <p:blipFill>
          <a:blip r:embed="rId3"/>
          <a:stretch>
            <a:fillRect/>
          </a:stretch>
        </p:blipFill>
        <p:spPr>
          <a:xfrm>
            <a:off x="191912" y="0"/>
            <a:ext cx="11334044" cy="635635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05"/>
        <p:cNvGrpSpPr/>
        <p:nvPr/>
      </p:nvGrpSpPr>
      <p:grpSpPr>
        <a:xfrm>
          <a:off x="0" y="0"/>
          <a:ext cx="0" cy="0"/>
          <a:chOff x="0" y="0"/>
          <a:chExt cx="0" cy="0"/>
        </a:xfrm>
      </p:grpSpPr>
      <p:sp>
        <p:nvSpPr>
          <p:cNvPr id="106" name="Google Shape;106;p3"/>
          <p:cNvSpPr txBox="1">
            <a:spLocks noGrp="1"/>
          </p:cNvSpPr>
          <p:nvPr>
            <p:ph type="title"/>
          </p:nvPr>
        </p:nvSpPr>
        <p:spPr>
          <a:xfrm>
            <a:off x="558702" y="1102452"/>
            <a:ext cx="10542973" cy="822858"/>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rgbClr val="FFFFFF"/>
              </a:buClr>
              <a:buSzPct val="100000"/>
              <a:buFont typeface="Arial"/>
              <a:buNone/>
            </a:pPr>
            <a:r>
              <a:rPr lang="en-IN" sz="4000" b="1">
                <a:solidFill>
                  <a:srgbClr val="FFFFFF"/>
                </a:solidFill>
                <a:latin typeface="Arial"/>
                <a:ea typeface="Arial"/>
                <a:cs typeface="Arial"/>
                <a:sym typeface="Arial"/>
              </a:rPr>
              <a:t>At the end of this session students will be able to </a:t>
            </a:r>
            <a:endParaRPr/>
          </a:p>
        </p:txBody>
      </p:sp>
      <p:sp>
        <p:nvSpPr>
          <p:cNvPr id="107" name="Google Shape;107;p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IN"/>
              <a:t>Galgotias University</a:t>
            </a:r>
            <a:endParaRPr/>
          </a:p>
        </p:txBody>
      </p:sp>
      <p:sp>
        <p:nvSpPr>
          <p:cNvPr id="108" name="Google Shape;108;p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IN"/>
              <a:t>3</a:t>
            </a:fld>
            <a:endParaRPr/>
          </a:p>
        </p:txBody>
      </p:sp>
      <p:grpSp>
        <p:nvGrpSpPr>
          <p:cNvPr id="109" name="Google Shape;109;p3"/>
          <p:cNvGrpSpPr/>
          <p:nvPr/>
        </p:nvGrpSpPr>
        <p:grpSpPr>
          <a:xfrm>
            <a:off x="644056" y="2615979"/>
            <a:ext cx="10927828" cy="3689404"/>
            <a:chOff x="0" y="0"/>
            <a:chExt cx="10927828" cy="3689404"/>
          </a:xfrm>
        </p:grpSpPr>
        <p:sp>
          <p:nvSpPr>
            <p:cNvPr id="110" name="Google Shape;110;p3"/>
            <p:cNvSpPr/>
            <p:nvPr/>
          </p:nvSpPr>
          <p:spPr>
            <a:xfrm>
              <a:off x="0" y="0"/>
              <a:ext cx="9288654" cy="1660232"/>
            </a:xfrm>
            <a:prstGeom prst="roundRect">
              <a:avLst>
                <a:gd name="adj" fmla="val 10000"/>
              </a:avLst>
            </a:prstGeom>
            <a:solidFill>
              <a:srgbClr val="E97131"/>
            </a:solidFill>
            <a:ln w="1905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1" name="Google Shape;111;p3"/>
            <p:cNvSpPr txBox="1"/>
            <p:nvPr/>
          </p:nvSpPr>
          <p:spPr>
            <a:xfrm>
              <a:off x="48627" y="48627"/>
              <a:ext cx="7572674" cy="1562978"/>
            </a:xfrm>
            <a:prstGeom prst="rect">
              <a:avLst/>
            </a:prstGeom>
            <a:noFill/>
            <a:ln>
              <a:noFill/>
            </a:ln>
          </p:spPr>
          <p:txBody>
            <a:bodyPr spcFirstLastPara="1" wrap="square" lIns="118100" tIns="118100" rIns="118100" bIns="118100" anchor="ctr" anchorCtr="0">
              <a:noAutofit/>
            </a:bodyPr>
            <a:lstStyle/>
            <a:p>
              <a:pPr marL="0" marR="0" lvl="0" indent="0" algn="l" rtl="0">
                <a:lnSpc>
                  <a:spcPct val="90000"/>
                </a:lnSpc>
                <a:spcBef>
                  <a:spcPts val="0"/>
                </a:spcBef>
                <a:spcAft>
                  <a:spcPts val="0"/>
                </a:spcAft>
                <a:buClr>
                  <a:schemeClr val="lt1"/>
                </a:buClr>
                <a:buSzPts val="3100"/>
                <a:buFont typeface="Arial"/>
                <a:buNone/>
              </a:pPr>
              <a:r>
                <a:rPr lang="en-IN" sz="3100" b="0" i="0" u="none" strike="noStrike" cap="none">
                  <a:solidFill>
                    <a:schemeClr val="lt1"/>
                  </a:solidFill>
                  <a:latin typeface="Arial"/>
                  <a:ea typeface="Arial"/>
                  <a:cs typeface="Arial"/>
                  <a:sym typeface="Arial"/>
                </a:rPr>
                <a:t>Learning Outcome 1: </a:t>
              </a:r>
              <a:r>
                <a:rPr lang="en-IN" sz="2800" b="0" i="0" u="none" strike="noStrike" cap="none">
                  <a:solidFill>
                    <a:srgbClr val="000000"/>
                  </a:solidFill>
                  <a:latin typeface="Calibri"/>
                  <a:ea typeface="Calibri"/>
                  <a:cs typeface="Calibri"/>
                  <a:sym typeface="Calibri"/>
                </a:rPr>
                <a:t>Analyse and Apply concepts to solve problems involving Averages and Mixtures</a:t>
              </a:r>
              <a:r>
                <a:rPr lang="en-IN" sz="1800" b="0" i="0" u="none" strike="noStrike" cap="none">
                  <a:solidFill>
                    <a:srgbClr val="000000"/>
                  </a:solidFill>
                  <a:latin typeface="Calibri"/>
                  <a:ea typeface="Calibri"/>
                  <a:cs typeface="Calibri"/>
                  <a:sym typeface="Calibri"/>
                </a:rPr>
                <a:t>.</a:t>
              </a:r>
              <a:r>
                <a:rPr lang="en-IN" sz="3100" b="0" i="0" u="none" strike="noStrike" cap="none">
                  <a:solidFill>
                    <a:schemeClr val="lt1"/>
                  </a:solidFill>
                  <a:latin typeface="Arial"/>
                  <a:ea typeface="Arial"/>
                  <a:cs typeface="Arial"/>
                  <a:sym typeface="Arial"/>
                </a:rPr>
                <a:t>.</a:t>
              </a:r>
              <a:endParaRPr sz="3100" b="0" i="0" u="none" strike="noStrike" cap="none">
                <a:solidFill>
                  <a:schemeClr val="lt1"/>
                </a:solidFill>
                <a:latin typeface="Arial"/>
                <a:ea typeface="Arial"/>
                <a:cs typeface="Arial"/>
                <a:sym typeface="Arial"/>
              </a:endParaRPr>
            </a:p>
          </p:txBody>
        </p:sp>
        <p:sp>
          <p:nvSpPr>
            <p:cNvPr id="112" name="Google Shape;112;p3"/>
            <p:cNvSpPr/>
            <p:nvPr/>
          </p:nvSpPr>
          <p:spPr>
            <a:xfrm>
              <a:off x="1639174" y="2029172"/>
              <a:ext cx="9288654" cy="1660232"/>
            </a:xfrm>
            <a:prstGeom prst="roundRect">
              <a:avLst>
                <a:gd name="adj" fmla="val 10000"/>
              </a:avLst>
            </a:prstGeom>
            <a:solidFill>
              <a:srgbClr val="186923"/>
            </a:solidFill>
            <a:ln w="19050" cap="flat" cmpd="sng">
              <a:solidFill>
                <a:schemeClr val="lt1"/>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3" name="Google Shape;113;p3"/>
            <p:cNvSpPr txBox="1"/>
            <p:nvPr/>
          </p:nvSpPr>
          <p:spPr>
            <a:xfrm>
              <a:off x="1687801" y="2077799"/>
              <a:ext cx="6473075" cy="1562978"/>
            </a:xfrm>
            <a:prstGeom prst="rect">
              <a:avLst/>
            </a:prstGeom>
            <a:noFill/>
            <a:ln>
              <a:noFill/>
            </a:ln>
          </p:spPr>
          <p:txBody>
            <a:bodyPr spcFirstLastPara="1" wrap="square" lIns="118100" tIns="118100" rIns="118100" bIns="118100" anchor="ctr" anchorCtr="0">
              <a:noAutofit/>
            </a:bodyPr>
            <a:lstStyle/>
            <a:p>
              <a:pPr marL="0" marR="0" lvl="0" indent="0" algn="l" rtl="0">
                <a:lnSpc>
                  <a:spcPct val="90000"/>
                </a:lnSpc>
                <a:spcBef>
                  <a:spcPts val="0"/>
                </a:spcBef>
                <a:spcAft>
                  <a:spcPts val="0"/>
                </a:spcAft>
                <a:buClr>
                  <a:schemeClr val="lt1"/>
                </a:buClr>
                <a:buSzPts val="3100"/>
                <a:buFont typeface="Arial"/>
                <a:buNone/>
              </a:pPr>
              <a:r>
                <a:rPr lang="en-IN" sz="3100" b="0" i="0" u="none" strike="noStrike" cap="none">
                  <a:solidFill>
                    <a:schemeClr val="lt1"/>
                  </a:solidFill>
                  <a:latin typeface="Arial"/>
                  <a:ea typeface="Arial"/>
                  <a:cs typeface="Arial"/>
                  <a:sym typeface="Arial"/>
                </a:rPr>
                <a:t>Learning Outcome 2: </a:t>
              </a:r>
              <a:r>
                <a:rPr lang="en-IN" sz="2800" b="0" i="0" u="none" strike="noStrike" cap="none">
                  <a:solidFill>
                    <a:srgbClr val="000000"/>
                  </a:solidFill>
                  <a:latin typeface="Calibri"/>
                  <a:ea typeface="Calibri"/>
                  <a:cs typeface="Calibri"/>
                  <a:sym typeface="Calibri"/>
                </a:rPr>
                <a:t>strengthen problem-solving abilities through collaborative learning.</a:t>
              </a:r>
              <a:endParaRPr sz="2800" b="0" i="0" u="none" strike="noStrike" cap="none">
                <a:solidFill>
                  <a:schemeClr val="lt1"/>
                </a:solidFill>
                <a:latin typeface="Arial"/>
                <a:ea typeface="Arial"/>
                <a:cs typeface="Arial"/>
                <a:sym typeface="Arial"/>
              </a:endParaRPr>
            </a:p>
          </p:txBody>
        </p:sp>
        <p:sp>
          <p:nvSpPr>
            <p:cNvPr id="114" name="Google Shape;114;p3"/>
            <p:cNvSpPr/>
            <p:nvPr/>
          </p:nvSpPr>
          <p:spPr>
            <a:xfrm>
              <a:off x="8209503" y="1305127"/>
              <a:ext cx="1079150" cy="1079150"/>
            </a:xfrm>
            <a:prstGeom prst="downArrow">
              <a:avLst>
                <a:gd name="adj1" fmla="val 55000"/>
                <a:gd name="adj2" fmla="val 45000"/>
              </a:avLst>
            </a:prstGeom>
            <a:solidFill>
              <a:srgbClr val="F6D4CC">
                <a:alpha val="89411"/>
              </a:srgbClr>
            </a:solidFill>
            <a:ln w="19050" cap="flat" cmpd="sng">
              <a:solidFill>
                <a:srgbClr val="F6D4CC">
                  <a:alpha val="89411"/>
                </a:srgbClr>
              </a:solidFill>
              <a:prstDash val="solid"/>
              <a:miter lim="800000"/>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5" name="Google Shape;115;p3"/>
            <p:cNvSpPr txBox="1"/>
            <p:nvPr/>
          </p:nvSpPr>
          <p:spPr>
            <a:xfrm>
              <a:off x="8452312" y="1305127"/>
              <a:ext cx="593532" cy="812060"/>
            </a:xfrm>
            <a:prstGeom prst="rect">
              <a:avLst/>
            </a:prstGeom>
            <a:noFill/>
            <a:ln>
              <a:noFill/>
            </a:ln>
          </p:spPr>
          <p:txBody>
            <a:bodyPr spcFirstLastPara="1" wrap="square" lIns="45700" tIns="45700" rIns="45700" bIns="45700" anchor="ctr" anchorCtr="0">
              <a:noAutofit/>
            </a:bodyPr>
            <a:lstStyle/>
            <a:p>
              <a:pPr marL="0" marR="0" lvl="0" indent="0" algn="ctr" rtl="0">
                <a:lnSpc>
                  <a:spcPct val="90000"/>
                </a:lnSpc>
                <a:spcBef>
                  <a:spcPts val="0"/>
                </a:spcBef>
                <a:spcAft>
                  <a:spcPts val="0"/>
                </a:spcAft>
                <a:buClr>
                  <a:schemeClr val="dk1"/>
                </a:buClr>
                <a:buSzPts val="3600"/>
                <a:buFont typeface="Arial"/>
                <a:buNone/>
              </a:pPr>
              <a:endParaRPr sz="3600" b="0" i="0" u="none" strike="noStrike" cap="none">
                <a:solidFill>
                  <a:schemeClr val="dk1"/>
                </a:solidFill>
                <a:latin typeface="Arial"/>
                <a:ea typeface="Arial"/>
                <a:cs typeface="Arial"/>
                <a:sym typeface="Arial"/>
              </a:endParaRPr>
            </a:p>
          </p:txBody>
        </p:sp>
      </p:grpSp>
      <p:pic>
        <p:nvPicPr>
          <p:cNvPr id="116" name="Google Shape;116;p3" descr="A blue circle with text and words&#10;&#10;Description automatically generated"/>
          <p:cNvPicPr preferRelativeResize="0"/>
          <p:nvPr/>
        </p:nvPicPr>
        <p:blipFill rotWithShape="1">
          <a:blip r:embed="rId3">
            <a:alphaModFix/>
          </a:blip>
          <a:srcRect/>
          <a:stretch/>
        </p:blipFill>
        <p:spPr>
          <a:xfrm>
            <a:off x="10758566" y="176754"/>
            <a:ext cx="874732" cy="874732"/>
          </a:xfrm>
          <a:prstGeom prst="rect">
            <a:avLst/>
          </a:prstGeom>
          <a:noFill/>
          <a:ln>
            <a:noFill/>
          </a:ln>
        </p:spPr>
      </p:pic>
      <p:pic>
        <p:nvPicPr>
          <p:cNvPr id="117" name="Google Shape;117;p3"/>
          <p:cNvPicPr preferRelativeResize="0"/>
          <p:nvPr/>
        </p:nvPicPr>
        <p:blipFill rotWithShape="1">
          <a:blip r:embed="rId4">
            <a:alphaModFix/>
          </a:blip>
          <a:srcRect/>
          <a:stretch/>
        </p:blipFill>
        <p:spPr>
          <a:xfrm>
            <a:off x="104932" y="114202"/>
            <a:ext cx="3795634" cy="740238"/>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21"/>
        <p:cNvGrpSpPr/>
        <p:nvPr/>
      </p:nvGrpSpPr>
      <p:grpSpPr>
        <a:xfrm>
          <a:off x="0" y="0"/>
          <a:ext cx="0" cy="0"/>
          <a:chOff x="0" y="0"/>
          <a:chExt cx="0" cy="0"/>
        </a:xfrm>
      </p:grpSpPr>
      <p:sp>
        <p:nvSpPr>
          <p:cNvPr id="122" name="Google Shape;122;p4"/>
          <p:cNvSpPr txBox="1">
            <a:spLocks noGrp="1"/>
          </p:cNvSpPr>
          <p:nvPr>
            <p:ph type="title"/>
          </p:nvPr>
        </p:nvSpPr>
        <p:spPr>
          <a:xfrm>
            <a:off x="635000" y="640823"/>
            <a:ext cx="3418659" cy="5583148"/>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5400"/>
              <a:buFont typeface="Play"/>
              <a:buNone/>
            </a:pPr>
            <a:r>
              <a:rPr lang="en-IN" sz="5400"/>
              <a:t>Session Outline</a:t>
            </a:r>
            <a:endParaRPr/>
          </a:p>
        </p:txBody>
      </p:sp>
      <p:grpSp>
        <p:nvGrpSpPr>
          <p:cNvPr id="123" name="Google Shape;123;p4"/>
          <p:cNvGrpSpPr/>
          <p:nvPr/>
        </p:nvGrpSpPr>
        <p:grpSpPr>
          <a:xfrm>
            <a:off x="4688087" y="1158114"/>
            <a:ext cx="6900512" cy="5530734"/>
            <a:chOff x="0" y="2703"/>
            <a:chExt cx="6900512" cy="5530734"/>
          </a:xfrm>
        </p:grpSpPr>
        <p:cxnSp>
          <p:nvCxnSpPr>
            <p:cNvPr id="124" name="Google Shape;124;p4"/>
            <p:cNvCxnSpPr/>
            <p:nvPr/>
          </p:nvCxnSpPr>
          <p:spPr>
            <a:xfrm>
              <a:off x="0" y="2703"/>
              <a:ext cx="6900512" cy="0"/>
            </a:xfrm>
            <a:prstGeom prst="straightConnector1">
              <a:avLst/>
            </a:prstGeom>
            <a:solidFill>
              <a:srgbClr val="E97131"/>
            </a:solidFill>
            <a:ln w="19050" cap="flat" cmpd="sng">
              <a:solidFill>
                <a:srgbClr val="E97131"/>
              </a:solidFill>
              <a:prstDash val="solid"/>
              <a:miter lim="800000"/>
              <a:headEnd type="none" w="sm" len="sm"/>
              <a:tailEnd type="none" w="sm" len="sm"/>
            </a:ln>
          </p:spPr>
        </p:cxnSp>
        <p:sp>
          <p:nvSpPr>
            <p:cNvPr id="125" name="Google Shape;125;p4"/>
            <p:cNvSpPr/>
            <p:nvPr/>
          </p:nvSpPr>
          <p:spPr>
            <a:xfrm>
              <a:off x="0" y="2703"/>
              <a:ext cx="6900512" cy="921789"/>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6" name="Google Shape;126;p4"/>
            <p:cNvSpPr txBox="1"/>
            <p:nvPr/>
          </p:nvSpPr>
          <p:spPr>
            <a:xfrm>
              <a:off x="0" y="2703"/>
              <a:ext cx="6900512" cy="921789"/>
            </a:xfrm>
            <a:prstGeom prst="rect">
              <a:avLst/>
            </a:prstGeom>
            <a:noFill/>
            <a:ln>
              <a:noFill/>
            </a:ln>
          </p:spPr>
          <p:txBody>
            <a:bodyPr spcFirstLastPara="1" wrap="square" lIns="91425" tIns="91425" rIns="91425" bIns="91425" anchor="t" anchorCtr="0">
              <a:noAutofit/>
            </a:bodyPr>
            <a:lstStyle/>
            <a:p>
              <a:pPr marL="0" marR="0" lvl="0" indent="0" algn="l" rtl="0">
                <a:lnSpc>
                  <a:spcPct val="90000"/>
                </a:lnSpc>
                <a:spcBef>
                  <a:spcPts val="0"/>
                </a:spcBef>
                <a:spcAft>
                  <a:spcPts val="0"/>
                </a:spcAft>
                <a:buClr>
                  <a:schemeClr val="dk1"/>
                </a:buClr>
                <a:buSzPts val="2400"/>
                <a:buFont typeface="Arial"/>
                <a:buNone/>
              </a:pPr>
              <a:r>
                <a:rPr lang="en-IN" sz="2400" b="0" i="0" u="none" strike="noStrike" cap="none">
                  <a:solidFill>
                    <a:schemeClr val="dk1"/>
                  </a:solidFill>
                  <a:latin typeface="Arial"/>
                  <a:ea typeface="Arial"/>
                  <a:cs typeface="Arial"/>
                  <a:sym typeface="Arial"/>
                </a:rPr>
                <a:t>1 Quick “Think Pair Share” on prior knowledge.</a:t>
              </a:r>
              <a:endParaRPr sz="2400" b="0" i="0" u="none" strike="noStrike" cap="none">
                <a:solidFill>
                  <a:schemeClr val="dk1"/>
                </a:solidFill>
                <a:latin typeface="Arial"/>
                <a:ea typeface="Arial"/>
                <a:cs typeface="Arial"/>
                <a:sym typeface="Arial"/>
              </a:endParaRPr>
            </a:p>
          </p:txBody>
        </p:sp>
        <p:cxnSp>
          <p:nvCxnSpPr>
            <p:cNvPr id="127" name="Google Shape;127;p4"/>
            <p:cNvCxnSpPr/>
            <p:nvPr/>
          </p:nvCxnSpPr>
          <p:spPr>
            <a:xfrm>
              <a:off x="0" y="924492"/>
              <a:ext cx="6900512" cy="0"/>
            </a:xfrm>
            <a:prstGeom prst="straightConnector1">
              <a:avLst/>
            </a:prstGeom>
            <a:solidFill>
              <a:srgbClr val="176B22"/>
            </a:solidFill>
            <a:ln w="19050" cap="flat" cmpd="sng">
              <a:solidFill>
                <a:srgbClr val="176B22"/>
              </a:solidFill>
              <a:prstDash val="solid"/>
              <a:miter lim="800000"/>
              <a:headEnd type="none" w="sm" len="sm"/>
              <a:tailEnd type="none" w="sm" len="sm"/>
            </a:ln>
          </p:spPr>
        </p:cxnSp>
        <p:sp>
          <p:nvSpPr>
            <p:cNvPr id="128" name="Google Shape;128;p4"/>
            <p:cNvSpPr/>
            <p:nvPr/>
          </p:nvSpPr>
          <p:spPr>
            <a:xfrm>
              <a:off x="0" y="924492"/>
              <a:ext cx="6900512" cy="921789"/>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9" name="Google Shape;129;p4"/>
            <p:cNvSpPr txBox="1"/>
            <p:nvPr/>
          </p:nvSpPr>
          <p:spPr>
            <a:xfrm>
              <a:off x="0" y="924492"/>
              <a:ext cx="6900512" cy="921789"/>
            </a:xfrm>
            <a:prstGeom prst="rect">
              <a:avLst/>
            </a:prstGeom>
            <a:noFill/>
            <a:ln>
              <a:noFill/>
            </a:ln>
          </p:spPr>
          <p:txBody>
            <a:bodyPr spcFirstLastPara="1" wrap="square" lIns="91425" tIns="91425" rIns="91425" bIns="91425" anchor="t" anchorCtr="0">
              <a:noAutofit/>
            </a:bodyPr>
            <a:lstStyle/>
            <a:p>
              <a:pPr marL="0" marR="0" lvl="0" indent="0" algn="l" rtl="0">
                <a:lnSpc>
                  <a:spcPct val="90000"/>
                </a:lnSpc>
                <a:spcBef>
                  <a:spcPts val="0"/>
                </a:spcBef>
                <a:spcAft>
                  <a:spcPts val="0"/>
                </a:spcAft>
                <a:buClr>
                  <a:schemeClr val="dk1"/>
                </a:buClr>
                <a:buSzPts val="2400"/>
                <a:buFont typeface="Arial"/>
                <a:buNone/>
              </a:pPr>
              <a:r>
                <a:rPr lang="en-IN" sz="2400" b="0" i="0" u="none" strike="noStrike" cap="none">
                  <a:solidFill>
                    <a:schemeClr val="dk1"/>
                  </a:solidFill>
                  <a:latin typeface="Arial"/>
                  <a:ea typeface="Arial"/>
                  <a:cs typeface="Arial"/>
                  <a:sym typeface="Arial"/>
                </a:rPr>
                <a:t>2 Brainstorm real life example.</a:t>
              </a:r>
              <a:endParaRPr sz="2400" b="0" i="0" u="none" strike="noStrike" cap="none">
                <a:solidFill>
                  <a:schemeClr val="dk1"/>
                </a:solidFill>
                <a:latin typeface="Arial"/>
                <a:ea typeface="Arial"/>
                <a:cs typeface="Arial"/>
                <a:sym typeface="Arial"/>
              </a:endParaRPr>
            </a:p>
          </p:txBody>
        </p:sp>
        <p:cxnSp>
          <p:nvCxnSpPr>
            <p:cNvPr id="130" name="Google Shape;130;p4"/>
            <p:cNvCxnSpPr/>
            <p:nvPr/>
          </p:nvCxnSpPr>
          <p:spPr>
            <a:xfrm>
              <a:off x="0" y="1846281"/>
              <a:ext cx="6900512" cy="0"/>
            </a:xfrm>
            <a:prstGeom prst="straightConnector1">
              <a:avLst/>
            </a:prstGeom>
            <a:solidFill>
              <a:srgbClr val="0C9ED5"/>
            </a:solidFill>
            <a:ln w="19050" cap="flat" cmpd="sng">
              <a:solidFill>
                <a:srgbClr val="0C9ED5"/>
              </a:solidFill>
              <a:prstDash val="solid"/>
              <a:miter lim="800000"/>
              <a:headEnd type="none" w="sm" len="sm"/>
              <a:tailEnd type="none" w="sm" len="sm"/>
            </a:ln>
          </p:spPr>
        </p:cxnSp>
        <p:sp>
          <p:nvSpPr>
            <p:cNvPr id="131" name="Google Shape;131;p4"/>
            <p:cNvSpPr/>
            <p:nvPr/>
          </p:nvSpPr>
          <p:spPr>
            <a:xfrm>
              <a:off x="0" y="1846281"/>
              <a:ext cx="6900512" cy="921789"/>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2" name="Google Shape;132;p4"/>
            <p:cNvSpPr txBox="1"/>
            <p:nvPr/>
          </p:nvSpPr>
          <p:spPr>
            <a:xfrm>
              <a:off x="0" y="1846281"/>
              <a:ext cx="6900512" cy="921789"/>
            </a:xfrm>
            <a:prstGeom prst="rect">
              <a:avLst/>
            </a:prstGeom>
            <a:noFill/>
            <a:ln>
              <a:noFill/>
            </a:ln>
          </p:spPr>
          <p:txBody>
            <a:bodyPr spcFirstLastPara="1" wrap="square" lIns="91425" tIns="91425" rIns="91425" bIns="91425" anchor="t" anchorCtr="0">
              <a:noAutofit/>
            </a:bodyPr>
            <a:lstStyle/>
            <a:p>
              <a:pPr marL="0" marR="0" lvl="0" indent="0" algn="l" rtl="0">
                <a:lnSpc>
                  <a:spcPct val="90000"/>
                </a:lnSpc>
                <a:spcBef>
                  <a:spcPts val="0"/>
                </a:spcBef>
                <a:spcAft>
                  <a:spcPts val="0"/>
                </a:spcAft>
                <a:buClr>
                  <a:schemeClr val="dk1"/>
                </a:buClr>
                <a:buSzPts val="2400"/>
                <a:buFont typeface="Arial"/>
                <a:buNone/>
              </a:pPr>
              <a:r>
                <a:rPr lang="en-IN" sz="2400" b="0" i="0" u="none" strike="noStrike" cap="none">
                  <a:solidFill>
                    <a:schemeClr val="dk1"/>
                  </a:solidFill>
                  <a:latin typeface="Arial"/>
                  <a:ea typeface="Arial"/>
                  <a:cs typeface="Arial"/>
                  <a:sym typeface="Arial"/>
                </a:rPr>
                <a:t>3 Group work on Average ,mixture and alligation</a:t>
              </a:r>
              <a:endParaRPr sz="2400" b="0" i="0" u="none" strike="noStrike" cap="none">
                <a:solidFill>
                  <a:schemeClr val="dk1"/>
                </a:solidFill>
                <a:latin typeface="Arial"/>
                <a:ea typeface="Arial"/>
                <a:cs typeface="Arial"/>
                <a:sym typeface="Arial"/>
              </a:endParaRPr>
            </a:p>
          </p:txBody>
        </p:sp>
        <p:cxnSp>
          <p:nvCxnSpPr>
            <p:cNvPr id="133" name="Google Shape;133;p4"/>
            <p:cNvCxnSpPr/>
            <p:nvPr/>
          </p:nvCxnSpPr>
          <p:spPr>
            <a:xfrm>
              <a:off x="0" y="2768070"/>
              <a:ext cx="6900512" cy="0"/>
            </a:xfrm>
            <a:prstGeom prst="straightConnector1">
              <a:avLst/>
            </a:prstGeom>
            <a:solidFill>
              <a:srgbClr val="A02891"/>
            </a:solidFill>
            <a:ln w="19050" cap="flat" cmpd="sng">
              <a:solidFill>
                <a:srgbClr val="A02891"/>
              </a:solidFill>
              <a:prstDash val="solid"/>
              <a:miter lim="800000"/>
              <a:headEnd type="none" w="sm" len="sm"/>
              <a:tailEnd type="none" w="sm" len="sm"/>
            </a:ln>
          </p:spPr>
        </p:cxnSp>
        <p:sp>
          <p:nvSpPr>
            <p:cNvPr id="134" name="Google Shape;134;p4"/>
            <p:cNvSpPr/>
            <p:nvPr/>
          </p:nvSpPr>
          <p:spPr>
            <a:xfrm>
              <a:off x="0" y="2768070"/>
              <a:ext cx="6900512" cy="921789"/>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5" name="Google Shape;135;p4"/>
            <p:cNvSpPr txBox="1"/>
            <p:nvPr/>
          </p:nvSpPr>
          <p:spPr>
            <a:xfrm>
              <a:off x="0" y="2768070"/>
              <a:ext cx="6900512" cy="921789"/>
            </a:xfrm>
            <a:prstGeom prst="rect">
              <a:avLst/>
            </a:prstGeom>
            <a:noFill/>
            <a:ln>
              <a:noFill/>
            </a:ln>
          </p:spPr>
          <p:txBody>
            <a:bodyPr spcFirstLastPara="1" wrap="square" lIns="91425" tIns="91425" rIns="91425" bIns="91425" anchor="t" anchorCtr="0">
              <a:noAutofit/>
            </a:bodyPr>
            <a:lstStyle/>
            <a:p>
              <a:pPr marL="0" marR="0" lvl="0" indent="0" algn="l" rtl="0">
                <a:lnSpc>
                  <a:spcPct val="90000"/>
                </a:lnSpc>
                <a:spcBef>
                  <a:spcPts val="0"/>
                </a:spcBef>
                <a:spcAft>
                  <a:spcPts val="0"/>
                </a:spcAft>
                <a:buClr>
                  <a:schemeClr val="dk1"/>
                </a:buClr>
                <a:buSzPts val="2400"/>
                <a:buFont typeface="Arial"/>
                <a:buNone/>
              </a:pPr>
              <a:r>
                <a:rPr lang="en-IN" sz="2400" b="0" i="0" u="none" strike="noStrike" cap="none">
                  <a:solidFill>
                    <a:schemeClr val="dk1"/>
                  </a:solidFill>
                  <a:latin typeface="Arial"/>
                  <a:ea typeface="Arial"/>
                  <a:cs typeface="Arial"/>
                  <a:sym typeface="Arial"/>
                </a:rPr>
                <a:t>4 Solve &amp; discuss word problems on average ,mixture and alligation</a:t>
              </a:r>
              <a:endParaRPr sz="2400" b="0" i="0" u="none" strike="noStrike" cap="none">
                <a:solidFill>
                  <a:schemeClr val="dk1"/>
                </a:solidFill>
                <a:latin typeface="Arial"/>
                <a:ea typeface="Arial"/>
                <a:cs typeface="Arial"/>
                <a:sym typeface="Arial"/>
              </a:endParaRPr>
            </a:p>
          </p:txBody>
        </p:sp>
        <p:cxnSp>
          <p:nvCxnSpPr>
            <p:cNvPr id="136" name="Google Shape;136;p4"/>
            <p:cNvCxnSpPr/>
            <p:nvPr/>
          </p:nvCxnSpPr>
          <p:spPr>
            <a:xfrm>
              <a:off x="0" y="3689859"/>
              <a:ext cx="6900512" cy="0"/>
            </a:xfrm>
            <a:prstGeom prst="straightConnector1">
              <a:avLst/>
            </a:prstGeom>
            <a:solidFill>
              <a:srgbClr val="4EA62C"/>
            </a:solidFill>
            <a:ln w="19050" cap="flat" cmpd="sng">
              <a:solidFill>
                <a:srgbClr val="4EA62C"/>
              </a:solidFill>
              <a:prstDash val="solid"/>
              <a:miter lim="800000"/>
              <a:headEnd type="none" w="sm" len="sm"/>
              <a:tailEnd type="none" w="sm" len="sm"/>
            </a:ln>
          </p:spPr>
        </p:cxnSp>
        <p:sp>
          <p:nvSpPr>
            <p:cNvPr id="137" name="Google Shape;137;p4"/>
            <p:cNvSpPr/>
            <p:nvPr/>
          </p:nvSpPr>
          <p:spPr>
            <a:xfrm>
              <a:off x="0" y="3689859"/>
              <a:ext cx="6900512" cy="921789"/>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8" name="Google Shape;138;p4"/>
            <p:cNvSpPr txBox="1"/>
            <p:nvPr/>
          </p:nvSpPr>
          <p:spPr>
            <a:xfrm>
              <a:off x="0" y="3689859"/>
              <a:ext cx="6900512" cy="921789"/>
            </a:xfrm>
            <a:prstGeom prst="rect">
              <a:avLst/>
            </a:prstGeom>
            <a:noFill/>
            <a:ln>
              <a:noFill/>
            </a:ln>
          </p:spPr>
          <p:txBody>
            <a:bodyPr spcFirstLastPara="1" wrap="square" lIns="91425" tIns="91425" rIns="91425" bIns="91425" anchor="t" anchorCtr="0">
              <a:noAutofit/>
            </a:bodyPr>
            <a:lstStyle/>
            <a:p>
              <a:pPr marL="0" marR="0" lvl="0" indent="0" algn="l" rtl="0">
                <a:lnSpc>
                  <a:spcPct val="90000"/>
                </a:lnSpc>
                <a:spcBef>
                  <a:spcPts val="0"/>
                </a:spcBef>
                <a:spcAft>
                  <a:spcPts val="0"/>
                </a:spcAft>
                <a:buClr>
                  <a:schemeClr val="dk1"/>
                </a:buClr>
                <a:buSzPts val="2400"/>
                <a:buFont typeface="Arial"/>
                <a:buNone/>
              </a:pPr>
              <a:r>
                <a:rPr lang="en-IN" sz="2400" b="0" i="0" u="none" strike="noStrike" cap="none">
                  <a:solidFill>
                    <a:schemeClr val="dk1"/>
                  </a:solidFill>
                  <a:latin typeface="Arial"/>
                  <a:ea typeface="Arial"/>
                  <a:cs typeface="Arial"/>
                  <a:sym typeface="Arial"/>
                </a:rPr>
                <a:t>5 Summarize key takeaways.</a:t>
              </a:r>
              <a:endParaRPr sz="2400" b="0" i="0" u="none" strike="noStrike" cap="none">
                <a:solidFill>
                  <a:schemeClr val="dk1"/>
                </a:solidFill>
                <a:latin typeface="Arial"/>
                <a:ea typeface="Arial"/>
                <a:cs typeface="Arial"/>
                <a:sym typeface="Arial"/>
              </a:endParaRPr>
            </a:p>
          </p:txBody>
        </p:sp>
        <p:cxnSp>
          <p:nvCxnSpPr>
            <p:cNvPr id="139" name="Google Shape;139;p4"/>
            <p:cNvCxnSpPr/>
            <p:nvPr/>
          </p:nvCxnSpPr>
          <p:spPr>
            <a:xfrm>
              <a:off x="0" y="4611648"/>
              <a:ext cx="6900512" cy="0"/>
            </a:xfrm>
            <a:prstGeom prst="straightConnector1">
              <a:avLst/>
            </a:prstGeom>
            <a:solidFill>
              <a:srgbClr val="E97131"/>
            </a:solidFill>
            <a:ln w="19050" cap="flat" cmpd="sng">
              <a:solidFill>
                <a:srgbClr val="E97131"/>
              </a:solidFill>
              <a:prstDash val="solid"/>
              <a:miter lim="800000"/>
              <a:headEnd type="none" w="sm" len="sm"/>
              <a:tailEnd type="none" w="sm" len="sm"/>
            </a:ln>
          </p:spPr>
        </p:cxnSp>
        <p:sp>
          <p:nvSpPr>
            <p:cNvPr id="140" name="Google Shape;140;p4"/>
            <p:cNvSpPr/>
            <p:nvPr/>
          </p:nvSpPr>
          <p:spPr>
            <a:xfrm>
              <a:off x="0" y="4611648"/>
              <a:ext cx="6900512" cy="921789"/>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1" name="Google Shape;141;p4"/>
            <p:cNvSpPr txBox="1"/>
            <p:nvPr/>
          </p:nvSpPr>
          <p:spPr>
            <a:xfrm>
              <a:off x="0" y="4611648"/>
              <a:ext cx="6900512" cy="921789"/>
            </a:xfrm>
            <a:prstGeom prst="rect">
              <a:avLst/>
            </a:prstGeom>
            <a:noFill/>
            <a:ln>
              <a:noFill/>
            </a:ln>
          </p:spPr>
          <p:txBody>
            <a:bodyPr spcFirstLastPara="1" wrap="square" lIns="91425" tIns="91425" rIns="91425" bIns="91425" anchor="t" anchorCtr="0">
              <a:noAutofit/>
            </a:bodyPr>
            <a:lstStyle/>
            <a:p>
              <a:pPr marL="0" marR="0" lvl="0" indent="0" algn="l" rtl="0">
                <a:lnSpc>
                  <a:spcPct val="90000"/>
                </a:lnSpc>
                <a:spcBef>
                  <a:spcPts val="0"/>
                </a:spcBef>
                <a:spcAft>
                  <a:spcPts val="0"/>
                </a:spcAft>
                <a:buClr>
                  <a:schemeClr val="dk1"/>
                </a:buClr>
                <a:buSzPts val="2400"/>
                <a:buFont typeface="Arial"/>
                <a:buNone/>
              </a:pPr>
              <a:r>
                <a:rPr lang="en-IN" sz="2400" b="0" i="0" u="none" strike="noStrike" cap="none">
                  <a:solidFill>
                    <a:schemeClr val="dk1"/>
                  </a:solidFill>
                  <a:latin typeface="Arial"/>
                  <a:ea typeface="Arial"/>
                  <a:cs typeface="Arial"/>
                  <a:sym typeface="Arial"/>
                </a:rPr>
                <a:t>6 Reinforce learning with quick recap.</a:t>
              </a:r>
              <a:endParaRPr sz="2400" b="0" i="0" u="none" strike="noStrike" cap="none">
                <a:solidFill>
                  <a:schemeClr val="dk1"/>
                </a:solidFill>
                <a:latin typeface="Arial"/>
                <a:ea typeface="Arial"/>
                <a:cs typeface="Arial"/>
                <a:sym typeface="Arial"/>
              </a:endParaRPr>
            </a:p>
          </p:txBody>
        </p:sp>
      </p:grpSp>
      <p:sp>
        <p:nvSpPr>
          <p:cNvPr id="142" name="Google Shape;142;p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IN"/>
              <a:t>Galgotias University</a:t>
            </a:r>
            <a:endParaRPr/>
          </a:p>
        </p:txBody>
      </p:sp>
      <p:sp>
        <p:nvSpPr>
          <p:cNvPr id="143" name="Google Shape;143;p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IN"/>
              <a:t>4</a:t>
            </a:fld>
            <a:endParaRPr/>
          </a:p>
        </p:txBody>
      </p:sp>
      <p:pic>
        <p:nvPicPr>
          <p:cNvPr id="144" name="Google Shape;144;p4" descr="A blue circle with text and words&#10;&#10;Description automatically generated"/>
          <p:cNvPicPr preferRelativeResize="0"/>
          <p:nvPr/>
        </p:nvPicPr>
        <p:blipFill rotWithShape="1">
          <a:blip r:embed="rId3">
            <a:alphaModFix/>
          </a:blip>
          <a:srcRect/>
          <a:stretch/>
        </p:blipFill>
        <p:spPr>
          <a:xfrm>
            <a:off x="10758566" y="176754"/>
            <a:ext cx="874732" cy="874732"/>
          </a:xfrm>
          <a:prstGeom prst="rect">
            <a:avLst/>
          </a:prstGeom>
          <a:noFill/>
          <a:ln>
            <a:noFill/>
          </a:ln>
        </p:spPr>
      </p:pic>
      <p:pic>
        <p:nvPicPr>
          <p:cNvPr id="145" name="Google Shape;145;p4"/>
          <p:cNvPicPr preferRelativeResize="0"/>
          <p:nvPr/>
        </p:nvPicPr>
        <p:blipFill rotWithShape="1">
          <a:blip r:embed="rId4">
            <a:alphaModFix/>
          </a:blip>
          <a:srcRect/>
          <a:stretch/>
        </p:blipFill>
        <p:spPr>
          <a:xfrm>
            <a:off x="104932" y="114202"/>
            <a:ext cx="3795634" cy="740238"/>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49"/>
        <p:cNvGrpSpPr/>
        <p:nvPr/>
      </p:nvGrpSpPr>
      <p:grpSpPr>
        <a:xfrm>
          <a:off x="0" y="0"/>
          <a:ext cx="0" cy="0"/>
          <a:chOff x="0" y="0"/>
          <a:chExt cx="0" cy="0"/>
        </a:xfrm>
      </p:grpSpPr>
      <p:sp>
        <p:nvSpPr>
          <p:cNvPr id="150" name="Google Shape;150;p5"/>
          <p:cNvSpPr txBox="1">
            <a:spLocks noGrp="1"/>
          </p:cNvSpPr>
          <p:nvPr>
            <p:ph type="title"/>
          </p:nvPr>
        </p:nvSpPr>
        <p:spPr>
          <a:xfrm>
            <a:off x="428399" y="1051486"/>
            <a:ext cx="4646904" cy="1024649"/>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000"/>
              <a:buFont typeface="Georgia"/>
              <a:buNone/>
            </a:pPr>
            <a:r>
              <a:rPr lang="en-IN" sz="4000">
                <a:latin typeface="Georgia"/>
                <a:ea typeface="Georgia"/>
                <a:cs typeface="Georgia"/>
                <a:sym typeface="Georgia"/>
              </a:rPr>
              <a:t>Learning Activity 1</a:t>
            </a:r>
            <a:endParaRPr/>
          </a:p>
        </p:txBody>
      </p:sp>
      <p:sp>
        <p:nvSpPr>
          <p:cNvPr id="151" name="Google Shape;151;p5"/>
          <p:cNvSpPr txBox="1">
            <a:spLocks noGrp="1"/>
          </p:cNvSpPr>
          <p:nvPr>
            <p:ph type="body" idx="1"/>
          </p:nvPr>
        </p:nvSpPr>
        <p:spPr>
          <a:xfrm>
            <a:off x="761802" y="2743200"/>
            <a:ext cx="4646905" cy="3613149"/>
          </a:xfrm>
          <a:prstGeom prst="rect">
            <a:avLst/>
          </a:prstGeom>
          <a:noFill/>
          <a:ln>
            <a:noFill/>
          </a:ln>
        </p:spPr>
        <p:txBody>
          <a:bodyPr spcFirstLastPara="1" wrap="square" lIns="91425" tIns="45700" rIns="91425" bIns="45700" anchor="ctr" anchorCtr="0">
            <a:normAutofit/>
          </a:bodyPr>
          <a:lstStyle/>
          <a:p>
            <a:pPr marL="228600" lvl="0" indent="-228600" algn="l" rtl="0">
              <a:lnSpc>
                <a:spcPct val="90000"/>
              </a:lnSpc>
              <a:spcBef>
                <a:spcPts val="0"/>
              </a:spcBef>
              <a:spcAft>
                <a:spcPts val="0"/>
              </a:spcAft>
              <a:buClr>
                <a:schemeClr val="dk1"/>
              </a:buClr>
              <a:buSzPts val="2000"/>
              <a:buChar char="•"/>
            </a:pPr>
            <a:r>
              <a:rPr lang="en-IN" sz="2000"/>
              <a:t>Activity encouraging:</a:t>
            </a:r>
            <a:endParaRPr/>
          </a:p>
          <a:p>
            <a:pPr marL="685800" lvl="1" indent="-228600" algn="l" rtl="0">
              <a:lnSpc>
                <a:spcPct val="90000"/>
              </a:lnSpc>
              <a:spcBef>
                <a:spcPts val="500"/>
              </a:spcBef>
              <a:spcAft>
                <a:spcPts val="0"/>
              </a:spcAft>
              <a:buClr>
                <a:schemeClr val="dk1"/>
              </a:buClr>
              <a:buSzPts val="2000"/>
              <a:buChar char="•"/>
            </a:pPr>
            <a:r>
              <a:rPr lang="en-IN" sz="2000"/>
              <a:t>Mind cognitive skills.</a:t>
            </a:r>
            <a:endParaRPr/>
          </a:p>
          <a:p>
            <a:pPr marL="685800" lvl="1" indent="-228600" algn="l" rtl="0">
              <a:lnSpc>
                <a:spcPct val="90000"/>
              </a:lnSpc>
              <a:spcBef>
                <a:spcPts val="500"/>
              </a:spcBef>
              <a:spcAft>
                <a:spcPts val="0"/>
              </a:spcAft>
              <a:buClr>
                <a:schemeClr val="dk1"/>
              </a:buClr>
              <a:buSzPts val="2000"/>
              <a:buChar char="•"/>
            </a:pPr>
            <a:r>
              <a:rPr lang="en-IN" sz="2000"/>
              <a:t>Mental Analytical skills </a:t>
            </a:r>
            <a:endParaRPr/>
          </a:p>
          <a:p>
            <a:pPr marL="685800" lvl="1" indent="-228600" algn="l" rtl="0">
              <a:lnSpc>
                <a:spcPct val="90000"/>
              </a:lnSpc>
              <a:spcBef>
                <a:spcPts val="500"/>
              </a:spcBef>
              <a:spcAft>
                <a:spcPts val="0"/>
              </a:spcAft>
              <a:buClr>
                <a:schemeClr val="dk1"/>
              </a:buClr>
              <a:buSzPts val="2000"/>
              <a:buChar char="•"/>
            </a:pPr>
            <a:r>
              <a:rPr lang="en-IN" sz="2000"/>
              <a:t>Peer Discussions</a:t>
            </a:r>
            <a:endParaRPr/>
          </a:p>
          <a:p>
            <a:pPr marL="685800" lvl="1" indent="-228600" algn="l" rtl="0">
              <a:lnSpc>
                <a:spcPct val="90000"/>
              </a:lnSpc>
              <a:spcBef>
                <a:spcPts val="500"/>
              </a:spcBef>
              <a:spcAft>
                <a:spcPts val="0"/>
              </a:spcAft>
              <a:buClr>
                <a:schemeClr val="dk1"/>
              </a:buClr>
              <a:buSzPts val="2000"/>
              <a:buChar char="•"/>
            </a:pPr>
            <a:r>
              <a:rPr lang="en-IN" sz="2000"/>
              <a:t>Easy understanding of concept</a:t>
            </a:r>
            <a:endParaRPr/>
          </a:p>
          <a:p>
            <a:pPr marL="228600" lvl="0" indent="-101600" algn="l" rtl="0">
              <a:lnSpc>
                <a:spcPct val="90000"/>
              </a:lnSpc>
              <a:spcBef>
                <a:spcPts val="1000"/>
              </a:spcBef>
              <a:spcAft>
                <a:spcPts val="0"/>
              </a:spcAft>
              <a:buClr>
                <a:schemeClr val="dk1"/>
              </a:buClr>
              <a:buSzPts val="2000"/>
              <a:buNone/>
            </a:pPr>
            <a:endParaRPr sz="2000"/>
          </a:p>
        </p:txBody>
      </p:sp>
      <p:sp>
        <p:nvSpPr>
          <p:cNvPr id="152" name="Google Shape;152;p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IN"/>
              <a:t>Galgotias University</a:t>
            </a:r>
            <a:endParaRPr/>
          </a:p>
        </p:txBody>
      </p:sp>
      <p:sp>
        <p:nvSpPr>
          <p:cNvPr id="153" name="Google Shape;153;p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IN"/>
              <a:t>5</a:t>
            </a:fld>
            <a:endParaRPr/>
          </a:p>
        </p:txBody>
      </p:sp>
      <p:pic>
        <p:nvPicPr>
          <p:cNvPr id="154" name="Google Shape;154;p5" descr="A blue circle with text and words&#10;&#10;Description automatically generated"/>
          <p:cNvPicPr preferRelativeResize="0"/>
          <p:nvPr/>
        </p:nvPicPr>
        <p:blipFill rotWithShape="1">
          <a:blip r:embed="rId3">
            <a:alphaModFix/>
          </a:blip>
          <a:srcRect/>
          <a:stretch/>
        </p:blipFill>
        <p:spPr>
          <a:xfrm>
            <a:off x="10758566" y="176754"/>
            <a:ext cx="874732" cy="874732"/>
          </a:xfrm>
          <a:prstGeom prst="rect">
            <a:avLst/>
          </a:prstGeom>
          <a:noFill/>
          <a:ln>
            <a:noFill/>
          </a:ln>
        </p:spPr>
      </p:pic>
      <p:pic>
        <p:nvPicPr>
          <p:cNvPr id="155" name="Google Shape;155;p5"/>
          <p:cNvPicPr preferRelativeResize="0"/>
          <p:nvPr/>
        </p:nvPicPr>
        <p:blipFill rotWithShape="1">
          <a:blip r:embed="rId4">
            <a:alphaModFix/>
          </a:blip>
          <a:srcRect/>
          <a:stretch/>
        </p:blipFill>
        <p:spPr>
          <a:xfrm>
            <a:off x="104932" y="114202"/>
            <a:ext cx="3795634" cy="740238"/>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59"/>
        <p:cNvGrpSpPr/>
        <p:nvPr/>
      </p:nvGrpSpPr>
      <p:grpSpPr>
        <a:xfrm>
          <a:off x="0" y="0"/>
          <a:ext cx="0" cy="0"/>
          <a:chOff x="0" y="0"/>
          <a:chExt cx="0" cy="0"/>
        </a:xfrm>
      </p:grpSpPr>
      <p:sp>
        <p:nvSpPr>
          <p:cNvPr id="161" name="Google Shape;161;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IN"/>
              <a:t>Galgotias University</a:t>
            </a:r>
            <a:endParaRPr/>
          </a:p>
        </p:txBody>
      </p:sp>
      <p:sp>
        <p:nvSpPr>
          <p:cNvPr id="162" name="Google Shape;162;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IN"/>
              <a:t>6</a:t>
            </a:fld>
            <a:endParaRPr/>
          </a:p>
        </p:txBody>
      </p:sp>
      <p:pic>
        <p:nvPicPr>
          <p:cNvPr id="163" name="Google Shape;163;p6" descr="A blue circle with text and words&#10;&#10;Description automatically generated"/>
          <p:cNvPicPr preferRelativeResize="0"/>
          <p:nvPr/>
        </p:nvPicPr>
        <p:blipFill rotWithShape="1">
          <a:blip r:embed="rId3">
            <a:alphaModFix/>
          </a:blip>
          <a:srcRect/>
          <a:stretch/>
        </p:blipFill>
        <p:spPr>
          <a:xfrm>
            <a:off x="10758566" y="176754"/>
            <a:ext cx="874732" cy="874732"/>
          </a:xfrm>
          <a:prstGeom prst="rect">
            <a:avLst/>
          </a:prstGeom>
          <a:noFill/>
          <a:ln>
            <a:noFill/>
          </a:ln>
        </p:spPr>
      </p:pic>
      <p:pic>
        <p:nvPicPr>
          <p:cNvPr id="164" name="Google Shape;164;p6"/>
          <p:cNvPicPr preferRelativeResize="0"/>
          <p:nvPr/>
        </p:nvPicPr>
        <p:blipFill rotWithShape="1">
          <a:blip r:embed="rId4">
            <a:alphaModFix/>
          </a:blip>
          <a:srcRect/>
          <a:stretch/>
        </p:blipFill>
        <p:spPr>
          <a:xfrm>
            <a:off x="104932" y="114202"/>
            <a:ext cx="3795634" cy="740238"/>
          </a:xfrm>
          <a:prstGeom prst="rect">
            <a:avLst/>
          </a:prstGeom>
          <a:noFill/>
          <a:ln>
            <a:noFill/>
          </a:ln>
        </p:spPr>
      </p:pic>
      <p:sp>
        <p:nvSpPr>
          <p:cNvPr id="165" name="Google Shape;165;p6"/>
          <p:cNvSpPr txBox="1">
            <a:spLocks noGrp="1"/>
          </p:cNvSpPr>
          <p:nvPr>
            <p:ph type="body" idx="1"/>
          </p:nvPr>
        </p:nvSpPr>
        <p:spPr>
          <a:xfrm>
            <a:off x="491310" y="2744951"/>
            <a:ext cx="10411094" cy="3000781"/>
          </a:xfrm>
          <a:prstGeom prst="rect">
            <a:avLst/>
          </a:prstGeom>
          <a:noFill/>
          <a:ln>
            <a:noFill/>
          </a:ln>
        </p:spPr>
        <p:txBody>
          <a:bodyPr spcFirstLastPara="1" wrap="square" lIns="91425" tIns="45700" rIns="91425" bIns="45700" anchor="ctr" anchorCtr="0">
            <a:spAutoFit/>
          </a:bodyPr>
          <a:lstStyle/>
          <a:p>
            <a:pPr marL="228600" marR="0" lvl="0" indent="-228600" algn="l" rtl="0">
              <a:lnSpc>
                <a:spcPct val="150000"/>
              </a:lnSpc>
              <a:spcBef>
                <a:spcPts val="0"/>
              </a:spcBef>
              <a:spcAft>
                <a:spcPts val="0"/>
              </a:spcAft>
              <a:buClr>
                <a:schemeClr val="dk1"/>
              </a:buClr>
              <a:buSzPts val="1800"/>
              <a:buFont typeface="Noto Sans Symbols"/>
              <a:buChar char="❑"/>
            </a:pPr>
            <a:r>
              <a:rPr lang="en-IN" sz="1800" b="1" i="0" u="none" strike="noStrike" cap="none">
                <a:solidFill>
                  <a:schemeClr val="dk1"/>
                </a:solidFill>
                <a:latin typeface="Arial"/>
                <a:ea typeface="Arial"/>
                <a:cs typeface="Arial"/>
                <a:sym typeface="Arial"/>
              </a:rPr>
              <a:t>Students reflect on their teamwork and problem-solving skills</a:t>
            </a:r>
            <a:r>
              <a:rPr lang="en-IN" sz="1800" b="0" i="0" u="none" strike="noStrike" cap="none">
                <a:solidFill>
                  <a:schemeClr val="dk1"/>
                </a:solidFill>
                <a:latin typeface="Arial"/>
                <a:ea typeface="Arial"/>
                <a:cs typeface="Arial"/>
                <a:sym typeface="Arial"/>
              </a:rPr>
              <a:t> </a:t>
            </a:r>
            <a:r>
              <a:rPr lang="en-IN" sz="1800">
                <a:latin typeface="Arial"/>
                <a:ea typeface="Arial"/>
                <a:cs typeface="Arial"/>
                <a:sym typeface="Arial"/>
              </a:rPr>
              <a:t>while solving the questions.</a:t>
            </a:r>
            <a:endParaRPr sz="1800" b="0" i="0" u="none" strike="noStrike" cap="none">
              <a:solidFill>
                <a:schemeClr val="dk1"/>
              </a:solidFill>
              <a:latin typeface="Arial"/>
              <a:ea typeface="Arial"/>
              <a:cs typeface="Arial"/>
              <a:sym typeface="Arial"/>
            </a:endParaRPr>
          </a:p>
          <a:p>
            <a:pPr marL="0" marR="0" lvl="0" indent="0" algn="l" rtl="0">
              <a:lnSpc>
                <a:spcPct val="150000"/>
              </a:lnSpc>
              <a:spcBef>
                <a:spcPts val="0"/>
              </a:spcBef>
              <a:spcAft>
                <a:spcPts val="0"/>
              </a:spcAft>
              <a:buClr>
                <a:schemeClr val="dk1"/>
              </a:buClr>
              <a:buSzPts val="1800"/>
              <a:buNone/>
            </a:pPr>
            <a:endParaRPr sz="1800" b="0" i="0" u="none" strike="noStrike" cap="none">
              <a:solidFill>
                <a:schemeClr val="dk1"/>
              </a:solidFill>
              <a:latin typeface="Arial"/>
              <a:ea typeface="Arial"/>
              <a:cs typeface="Arial"/>
              <a:sym typeface="Arial"/>
            </a:endParaRPr>
          </a:p>
          <a:p>
            <a:pPr marL="228600" lvl="0" indent="-228600" algn="l" rtl="0">
              <a:lnSpc>
                <a:spcPct val="150000"/>
              </a:lnSpc>
              <a:spcBef>
                <a:spcPts val="0"/>
              </a:spcBef>
              <a:spcAft>
                <a:spcPts val="0"/>
              </a:spcAft>
              <a:buClr>
                <a:schemeClr val="dk1"/>
              </a:buClr>
              <a:buSzPts val="1800"/>
              <a:buFont typeface="Noto Sans Symbols"/>
              <a:buChar char="❑"/>
            </a:pPr>
            <a:r>
              <a:rPr lang="en-IN" sz="1800" b="1" i="0" u="none" strike="noStrike" cap="none">
                <a:solidFill>
                  <a:schemeClr val="dk1"/>
                </a:solidFill>
                <a:latin typeface="Arial"/>
                <a:ea typeface="Arial"/>
                <a:cs typeface="Arial"/>
                <a:sym typeface="Arial"/>
              </a:rPr>
              <a:t>They recognize the importance of Average ,mixture and alligation</a:t>
            </a:r>
            <a:r>
              <a:rPr lang="en-IN" sz="1200"/>
              <a:t>  </a:t>
            </a:r>
            <a:r>
              <a:rPr lang="en-IN" sz="1800" b="1" i="0" u="none" strike="noStrike" cap="none">
                <a:solidFill>
                  <a:schemeClr val="dk1"/>
                </a:solidFill>
                <a:latin typeface="Arial"/>
                <a:ea typeface="Arial"/>
                <a:cs typeface="Arial"/>
                <a:sym typeface="Arial"/>
              </a:rPr>
              <a:t>in real-world scenarios</a:t>
            </a:r>
            <a:r>
              <a:rPr lang="en-IN" sz="1800" b="0" i="0" u="none" strike="noStrike" cap="none">
                <a:solidFill>
                  <a:schemeClr val="dk1"/>
                </a:solidFill>
                <a:latin typeface="Arial"/>
                <a:ea typeface="Arial"/>
                <a:cs typeface="Arial"/>
                <a:sym typeface="Arial"/>
              </a:rPr>
              <a:t> through discussion.</a:t>
            </a:r>
            <a:endParaRPr/>
          </a:p>
          <a:p>
            <a:pPr marL="0" marR="0" lvl="0" indent="0" algn="l" rtl="0">
              <a:lnSpc>
                <a:spcPct val="150000"/>
              </a:lnSpc>
              <a:spcBef>
                <a:spcPts val="0"/>
              </a:spcBef>
              <a:spcAft>
                <a:spcPts val="0"/>
              </a:spcAft>
              <a:buClr>
                <a:schemeClr val="dk1"/>
              </a:buClr>
              <a:buSzPts val="1800"/>
              <a:buNone/>
            </a:pPr>
            <a:endParaRPr sz="1800" b="0" i="0" u="none" strike="noStrike" cap="none">
              <a:solidFill>
                <a:schemeClr val="dk1"/>
              </a:solidFill>
              <a:latin typeface="Arial"/>
              <a:ea typeface="Arial"/>
              <a:cs typeface="Arial"/>
              <a:sym typeface="Arial"/>
            </a:endParaRPr>
          </a:p>
          <a:p>
            <a:pPr marL="228600" lvl="0" indent="-228600" algn="l" rtl="0">
              <a:lnSpc>
                <a:spcPct val="150000"/>
              </a:lnSpc>
              <a:spcBef>
                <a:spcPts val="0"/>
              </a:spcBef>
              <a:spcAft>
                <a:spcPts val="0"/>
              </a:spcAft>
              <a:buClr>
                <a:schemeClr val="dk1"/>
              </a:buClr>
              <a:buSzPts val="1800"/>
              <a:buFont typeface="Noto Sans Symbols"/>
              <a:buChar char="❑"/>
            </a:pPr>
            <a:r>
              <a:rPr lang="en-IN" sz="1800" b="1" i="0" u="none" strike="noStrike" cap="none">
                <a:solidFill>
                  <a:schemeClr val="dk1"/>
                </a:solidFill>
                <a:latin typeface="Arial"/>
                <a:ea typeface="Arial"/>
                <a:cs typeface="Arial"/>
                <a:sym typeface="Arial"/>
              </a:rPr>
              <a:t>Encourages self-evaluation</a:t>
            </a:r>
            <a:r>
              <a:rPr lang="en-IN" sz="1800" b="0" i="0" u="none" strike="noStrike" cap="none">
                <a:solidFill>
                  <a:schemeClr val="dk1"/>
                </a:solidFill>
                <a:latin typeface="Arial"/>
                <a:ea typeface="Arial"/>
                <a:cs typeface="Arial"/>
                <a:sym typeface="Arial"/>
              </a:rPr>
              <a:t> on how effectively they understood and applied</a:t>
            </a:r>
            <a:r>
              <a:rPr lang="en-IN" sz="1800">
                <a:latin typeface="Arial"/>
                <a:ea typeface="Arial"/>
                <a:cs typeface="Arial"/>
                <a:sym typeface="Arial"/>
              </a:rPr>
              <a:t> concepts </a:t>
            </a:r>
            <a:r>
              <a:rPr lang="en-IN" sz="1800"/>
              <a:t>of average ,mixture and alligation</a:t>
            </a:r>
            <a:r>
              <a:rPr lang="en-IN" sz="1800">
                <a:latin typeface="Arial"/>
                <a:ea typeface="Arial"/>
                <a:cs typeface="Arial"/>
                <a:sym typeface="Arial"/>
              </a:rPr>
              <a:t>.</a:t>
            </a:r>
            <a:endParaRPr sz="1800" b="0" i="0" u="none" strike="noStrike" cap="none">
              <a:solidFill>
                <a:schemeClr val="dk1"/>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69"/>
        <p:cNvGrpSpPr/>
        <p:nvPr/>
      </p:nvGrpSpPr>
      <p:grpSpPr>
        <a:xfrm>
          <a:off x="0" y="0"/>
          <a:ext cx="0" cy="0"/>
          <a:chOff x="0" y="0"/>
          <a:chExt cx="0" cy="0"/>
        </a:xfrm>
      </p:grpSpPr>
      <p:sp>
        <p:nvSpPr>
          <p:cNvPr id="170" name="Google Shape;170;p7"/>
          <p:cNvSpPr txBox="1">
            <a:spLocks noGrp="1"/>
          </p:cNvSpPr>
          <p:nvPr>
            <p:ph type="title"/>
          </p:nvPr>
        </p:nvSpPr>
        <p:spPr>
          <a:xfrm>
            <a:off x="597399" y="1177707"/>
            <a:ext cx="4800261" cy="820617"/>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Clr>
                <a:schemeClr val="dk2"/>
              </a:buClr>
              <a:buSzPts val="4000"/>
              <a:buFont typeface="Play"/>
              <a:buNone/>
            </a:pPr>
            <a:r>
              <a:rPr lang="en-IN" sz="4000" b="1">
                <a:solidFill>
                  <a:schemeClr val="dk2"/>
                </a:solidFill>
              </a:rPr>
              <a:t>Learning Activity 2</a:t>
            </a:r>
            <a:endParaRPr/>
          </a:p>
        </p:txBody>
      </p:sp>
      <p:sp>
        <p:nvSpPr>
          <p:cNvPr id="171" name="Google Shape;171;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IN"/>
              <a:t>Galgotias University</a:t>
            </a:r>
            <a:endParaRPr/>
          </a:p>
        </p:txBody>
      </p:sp>
      <p:sp>
        <p:nvSpPr>
          <p:cNvPr id="172" name="Google Shape;172;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IN"/>
              <a:t>7</a:t>
            </a:fld>
            <a:endParaRPr/>
          </a:p>
        </p:txBody>
      </p:sp>
      <p:pic>
        <p:nvPicPr>
          <p:cNvPr id="173" name="Google Shape;173;p7" descr="A blue circle with text and words&#10;&#10;Description automatically generated"/>
          <p:cNvPicPr preferRelativeResize="0"/>
          <p:nvPr/>
        </p:nvPicPr>
        <p:blipFill rotWithShape="1">
          <a:blip r:embed="rId3">
            <a:alphaModFix/>
          </a:blip>
          <a:srcRect/>
          <a:stretch/>
        </p:blipFill>
        <p:spPr>
          <a:xfrm>
            <a:off x="10758566" y="176754"/>
            <a:ext cx="874732" cy="874732"/>
          </a:xfrm>
          <a:prstGeom prst="rect">
            <a:avLst/>
          </a:prstGeom>
          <a:noFill/>
          <a:ln>
            <a:noFill/>
          </a:ln>
        </p:spPr>
      </p:pic>
      <p:pic>
        <p:nvPicPr>
          <p:cNvPr id="174" name="Google Shape;174;p7"/>
          <p:cNvPicPr preferRelativeResize="0"/>
          <p:nvPr/>
        </p:nvPicPr>
        <p:blipFill rotWithShape="1">
          <a:blip r:embed="rId4">
            <a:alphaModFix/>
          </a:blip>
          <a:srcRect/>
          <a:stretch/>
        </p:blipFill>
        <p:spPr>
          <a:xfrm>
            <a:off x="104932" y="114202"/>
            <a:ext cx="3795634" cy="740238"/>
          </a:xfrm>
          <a:prstGeom prst="rect">
            <a:avLst/>
          </a:prstGeom>
          <a:noFill/>
          <a:ln>
            <a:noFill/>
          </a:ln>
        </p:spPr>
      </p:pic>
      <p:pic>
        <p:nvPicPr>
          <p:cNvPr id="175" name="Google Shape;175;p7" descr="A screenshot of a chat&#10;&#10;AI-generated content may be incorrect."/>
          <p:cNvPicPr preferRelativeResize="0"/>
          <p:nvPr/>
        </p:nvPicPr>
        <p:blipFill rotWithShape="1">
          <a:blip r:embed="rId5">
            <a:alphaModFix/>
          </a:blip>
          <a:srcRect/>
          <a:stretch/>
        </p:blipFill>
        <p:spPr>
          <a:xfrm>
            <a:off x="0" y="2107096"/>
            <a:ext cx="12192000" cy="4052208"/>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79"/>
        <p:cNvGrpSpPr/>
        <p:nvPr/>
      </p:nvGrpSpPr>
      <p:grpSpPr>
        <a:xfrm>
          <a:off x="0" y="0"/>
          <a:ext cx="0" cy="0"/>
          <a:chOff x="0" y="0"/>
          <a:chExt cx="0" cy="0"/>
        </a:xfrm>
      </p:grpSpPr>
      <p:sp>
        <p:nvSpPr>
          <p:cNvPr id="180" name="Google Shape;180;p8"/>
          <p:cNvSpPr txBox="1">
            <a:spLocks noGrp="1"/>
          </p:cNvSpPr>
          <p:nvPr>
            <p:ph type="title"/>
          </p:nvPr>
        </p:nvSpPr>
        <p:spPr>
          <a:xfrm>
            <a:off x="104932" y="854441"/>
            <a:ext cx="11315918" cy="3435338"/>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800"/>
              </a:spcAft>
              <a:buSzPts val="1800"/>
              <a:buNone/>
            </a:pPr>
            <a:r>
              <a:rPr lang="en-IN" sz="4000" b="1" dirty="0">
                <a:latin typeface="Times New Roman"/>
                <a:ea typeface="Times New Roman"/>
                <a:cs typeface="Times New Roman"/>
                <a:sym typeface="Times New Roman"/>
              </a:rPr>
              <a:t>Q1. </a:t>
            </a:r>
            <a:r>
              <a:rPr lang="en-IN" sz="3200" dirty="0">
                <a:solidFill>
                  <a:srgbClr val="000000"/>
                </a:solidFill>
                <a:latin typeface="Times New Roman"/>
                <a:ea typeface="Times New Roman"/>
                <a:cs typeface="Times New Roman"/>
                <a:sym typeface="Times New Roman"/>
              </a:rPr>
              <a:t>A</a:t>
            </a:r>
            <a:r>
              <a:rPr lang="en-IN" sz="3200" b="0" i="0" u="none" strike="noStrike" dirty="0">
                <a:solidFill>
                  <a:srgbClr val="000000"/>
                </a:solidFill>
                <a:latin typeface="Times New Roman"/>
                <a:ea typeface="Times New Roman"/>
                <a:cs typeface="Times New Roman"/>
                <a:sym typeface="Times New Roman"/>
              </a:rPr>
              <a:t>verage marks of the class X, Y &amp; Z is calculated. The average score of class X, Y, Z are 83,76,85 and the number of students in the three classes are 27, 36 and 45 respectively. Find the average score of all the three classes.</a:t>
            </a:r>
            <a:br>
              <a:rPr lang="en-IN" sz="3200" b="0" i="0" u="none" strike="noStrike" dirty="0">
                <a:solidFill>
                  <a:srgbClr val="000000"/>
                </a:solidFill>
                <a:latin typeface="Times New Roman"/>
                <a:ea typeface="Times New Roman"/>
                <a:cs typeface="Times New Roman"/>
                <a:sym typeface="Times New Roman"/>
              </a:rPr>
            </a:br>
            <a:r>
              <a:rPr lang="en-IN" sz="3200" b="0" i="0" u="none" strike="noStrike" dirty="0">
                <a:solidFill>
                  <a:srgbClr val="000000"/>
                </a:solidFill>
                <a:latin typeface="Times New Roman"/>
                <a:ea typeface="Times New Roman"/>
                <a:cs typeface="Times New Roman"/>
                <a:sym typeface="Times New Roman"/>
              </a:rPr>
              <a:t>(a) 80              (b) 82                 (c) 82.5               (d) 81.5</a:t>
            </a:r>
            <a:endParaRPr sz="3200" b="1" dirty="0">
              <a:latin typeface="Calibri"/>
              <a:ea typeface="Calibri"/>
              <a:cs typeface="Calibri"/>
              <a:sym typeface="Calibri"/>
            </a:endParaRPr>
          </a:p>
        </p:txBody>
      </p:sp>
      <p:sp>
        <p:nvSpPr>
          <p:cNvPr id="181" name="Google Shape;181;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IN"/>
              <a:t>Galgotias University</a:t>
            </a:r>
            <a:endParaRPr/>
          </a:p>
        </p:txBody>
      </p:sp>
      <p:sp>
        <p:nvSpPr>
          <p:cNvPr id="182" name="Google Shape;182;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IN"/>
              <a:t>8</a:t>
            </a:fld>
            <a:endParaRPr/>
          </a:p>
        </p:txBody>
      </p:sp>
      <p:pic>
        <p:nvPicPr>
          <p:cNvPr id="183" name="Google Shape;183;p8" descr="A blue circle with text and words&#10;&#10;Description automatically generated"/>
          <p:cNvPicPr preferRelativeResize="0"/>
          <p:nvPr/>
        </p:nvPicPr>
        <p:blipFill rotWithShape="1">
          <a:blip r:embed="rId3">
            <a:alphaModFix/>
          </a:blip>
          <a:srcRect/>
          <a:stretch/>
        </p:blipFill>
        <p:spPr>
          <a:xfrm>
            <a:off x="10758566" y="176754"/>
            <a:ext cx="874732" cy="874732"/>
          </a:xfrm>
          <a:prstGeom prst="rect">
            <a:avLst/>
          </a:prstGeom>
          <a:noFill/>
          <a:ln>
            <a:noFill/>
          </a:ln>
        </p:spPr>
      </p:pic>
      <p:pic>
        <p:nvPicPr>
          <p:cNvPr id="184" name="Google Shape;184;p8"/>
          <p:cNvPicPr preferRelativeResize="0"/>
          <p:nvPr/>
        </p:nvPicPr>
        <p:blipFill rotWithShape="1">
          <a:blip r:embed="rId4">
            <a:alphaModFix/>
          </a:blip>
          <a:srcRect/>
          <a:stretch/>
        </p:blipFill>
        <p:spPr>
          <a:xfrm>
            <a:off x="104932" y="114202"/>
            <a:ext cx="3795634" cy="740238"/>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sp>
        <p:nvSpPr>
          <p:cNvPr id="189" name="Google Shape;189;p9"/>
          <p:cNvSpPr txBox="1">
            <a:spLocks noGrp="1"/>
          </p:cNvSpPr>
          <p:nvPr>
            <p:ph type="title"/>
          </p:nvPr>
        </p:nvSpPr>
        <p:spPr>
          <a:xfrm>
            <a:off x="104932" y="854440"/>
            <a:ext cx="11422142" cy="2837027"/>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800"/>
              </a:spcAft>
              <a:buSzPts val="1800"/>
              <a:buNone/>
            </a:pPr>
            <a:r>
              <a:rPr lang="en-IN" sz="4000" b="1" dirty="0">
                <a:latin typeface="Times New Roman"/>
                <a:ea typeface="Times New Roman"/>
                <a:cs typeface="Times New Roman"/>
                <a:sym typeface="Times New Roman"/>
              </a:rPr>
              <a:t>Q2. </a:t>
            </a:r>
            <a:r>
              <a:rPr lang="en-IN" sz="3200" b="0" i="0" u="none" strike="noStrike" dirty="0">
                <a:solidFill>
                  <a:srgbClr val="000000"/>
                </a:solidFill>
                <a:latin typeface="Times New Roman"/>
                <a:ea typeface="Times New Roman"/>
                <a:cs typeface="Times New Roman"/>
                <a:sym typeface="Times New Roman"/>
              </a:rPr>
              <a:t>The average of 9 observations is 87. If the average of the first five observations is 79 and the average of the next three is 92. Find the 9</a:t>
            </a:r>
            <a:r>
              <a:rPr lang="en-IN" sz="3200" b="0" i="0" u="none" strike="noStrike" baseline="30000" dirty="0">
                <a:solidFill>
                  <a:srgbClr val="000000"/>
                </a:solidFill>
                <a:latin typeface="Times New Roman"/>
                <a:ea typeface="Times New Roman"/>
                <a:cs typeface="Times New Roman"/>
                <a:sym typeface="Times New Roman"/>
              </a:rPr>
              <a:t>th</a:t>
            </a:r>
            <a:r>
              <a:rPr lang="en-IN" sz="3200" b="0" i="0" u="none" strike="noStrike" dirty="0">
                <a:solidFill>
                  <a:srgbClr val="000000"/>
                </a:solidFill>
                <a:latin typeface="Times New Roman"/>
                <a:ea typeface="Times New Roman"/>
                <a:cs typeface="Times New Roman"/>
                <a:sym typeface="Times New Roman"/>
              </a:rPr>
              <a:t> observation.</a:t>
            </a:r>
            <a:br>
              <a:rPr lang="en-IN" sz="3200" b="0" dirty="0"/>
            </a:br>
            <a:r>
              <a:rPr lang="en-IN" sz="3200" b="0" i="0" u="none" strike="noStrike" dirty="0">
                <a:solidFill>
                  <a:srgbClr val="000000"/>
                </a:solidFill>
                <a:latin typeface="Times New Roman"/>
                <a:ea typeface="Times New Roman"/>
                <a:cs typeface="Times New Roman"/>
                <a:sym typeface="Times New Roman"/>
              </a:rPr>
              <a:t>(a) 118                 (b) 112                (c) 102                (d) 115</a:t>
            </a:r>
            <a:endParaRPr sz="3200" b="1" dirty="0">
              <a:latin typeface="Calibri"/>
              <a:ea typeface="Calibri"/>
              <a:cs typeface="Calibri"/>
              <a:sym typeface="Calibri"/>
            </a:endParaRPr>
          </a:p>
        </p:txBody>
      </p:sp>
      <p:sp>
        <p:nvSpPr>
          <p:cNvPr id="190" name="Google Shape;190;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IN"/>
              <a:t>Galgotias University</a:t>
            </a:r>
            <a:endParaRPr/>
          </a:p>
        </p:txBody>
      </p:sp>
      <p:sp>
        <p:nvSpPr>
          <p:cNvPr id="191" name="Google Shape;191;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IN"/>
              <a:t>9</a:t>
            </a:fld>
            <a:endParaRPr/>
          </a:p>
        </p:txBody>
      </p:sp>
      <p:pic>
        <p:nvPicPr>
          <p:cNvPr id="192" name="Google Shape;192;p9" descr="A blue circle with text and words&#10;&#10;Description automatically generated"/>
          <p:cNvPicPr preferRelativeResize="0"/>
          <p:nvPr/>
        </p:nvPicPr>
        <p:blipFill rotWithShape="1">
          <a:blip r:embed="rId3">
            <a:alphaModFix/>
          </a:blip>
          <a:srcRect/>
          <a:stretch/>
        </p:blipFill>
        <p:spPr>
          <a:xfrm>
            <a:off x="10758566" y="176754"/>
            <a:ext cx="874732" cy="874732"/>
          </a:xfrm>
          <a:prstGeom prst="rect">
            <a:avLst/>
          </a:prstGeom>
          <a:noFill/>
          <a:ln>
            <a:noFill/>
          </a:ln>
        </p:spPr>
      </p:pic>
      <p:pic>
        <p:nvPicPr>
          <p:cNvPr id="193" name="Google Shape;193;p9"/>
          <p:cNvPicPr preferRelativeResize="0"/>
          <p:nvPr/>
        </p:nvPicPr>
        <p:blipFill rotWithShape="1">
          <a:blip r:embed="rId4">
            <a:alphaModFix/>
          </a:blip>
          <a:srcRect/>
          <a:stretch/>
        </p:blipFill>
        <p:spPr>
          <a:xfrm>
            <a:off x="104932" y="114202"/>
            <a:ext cx="3795634" cy="740238"/>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198" name="Google Shape;198;p10"/>
          <p:cNvSpPr txBox="1">
            <a:spLocks noGrp="1"/>
          </p:cNvSpPr>
          <p:nvPr>
            <p:ph type="title"/>
          </p:nvPr>
        </p:nvSpPr>
        <p:spPr>
          <a:xfrm>
            <a:off x="104932" y="854441"/>
            <a:ext cx="11422142" cy="2758003"/>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800"/>
              </a:spcAft>
              <a:buSzPts val="1800"/>
              <a:buNone/>
            </a:pPr>
            <a:r>
              <a:rPr lang="en-IN" sz="4000" b="1" dirty="0">
                <a:latin typeface="Times New Roman"/>
                <a:ea typeface="Times New Roman"/>
                <a:cs typeface="Times New Roman"/>
                <a:sym typeface="Times New Roman"/>
              </a:rPr>
              <a:t>Q3. </a:t>
            </a:r>
            <a:r>
              <a:rPr lang="en-IN" sz="3200" b="0" i="0" u="none" strike="noStrike" dirty="0">
                <a:solidFill>
                  <a:srgbClr val="000000"/>
                </a:solidFill>
                <a:latin typeface="Times New Roman"/>
                <a:ea typeface="Times New Roman"/>
                <a:cs typeface="Times New Roman"/>
                <a:sym typeface="Times New Roman"/>
              </a:rPr>
              <a:t>The average of 7 </a:t>
            </a:r>
            <a:r>
              <a:rPr lang="en-IN" sz="3200" dirty="0">
                <a:solidFill>
                  <a:srgbClr val="000000"/>
                </a:solidFill>
                <a:latin typeface="Times New Roman"/>
                <a:ea typeface="Times New Roman"/>
                <a:cs typeface="Times New Roman"/>
                <a:sym typeface="Times New Roman"/>
              </a:rPr>
              <a:t>numbers</a:t>
            </a:r>
            <a:r>
              <a:rPr lang="en-IN" sz="3200" b="0" i="0" u="none" strike="noStrike" dirty="0">
                <a:solidFill>
                  <a:srgbClr val="000000"/>
                </a:solidFill>
                <a:latin typeface="Times New Roman"/>
                <a:ea typeface="Times New Roman"/>
                <a:cs typeface="Times New Roman"/>
                <a:sym typeface="Times New Roman"/>
              </a:rPr>
              <a:t> is 34 and the average of the first three </a:t>
            </a:r>
            <a:r>
              <a:rPr lang="en-IN" sz="3200" dirty="0">
                <a:solidFill>
                  <a:srgbClr val="000000"/>
                </a:solidFill>
                <a:latin typeface="Times New Roman"/>
                <a:ea typeface="Times New Roman"/>
                <a:cs typeface="Times New Roman"/>
                <a:sym typeface="Times New Roman"/>
              </a:rPr>
              <a:t>numbers</a:t>
            </a:r>
            <a:r>
              <a:rPr lang="en-IN" sz="3200" b="0" i="0" u="none" strike="noStrike" dirty="0">
                <a:solidFill>
                  <a:srgbClr val="000000"/>
                </a:solidFill>
                <a:latin typeface="Times New Roman"/>
                <a:ea typeface="Times New Roman"/>
                <a:cs typeface="Times New Roman"/>
                <a:sym typeface="Times New Roman"/>
              </a:rPr>
              <a:t> is 28 and the average of the next two </a:t>
            </a:r>
            <a:r>
              <a:rPr lang="en-IN" sz="3200" dirty="0">
                <a:solidFill>
                  <a:srgbClr val="000000"/>
                </a:solidFill>
                <a:latin typeface="Times New Roman"/>
                <a:ea typeface="Times New Roman"/>
                <a:cs typeface="Times New Roman"/>
                <a:sym typeface="Times New Roman"/>
              </a:rPr>
              <a:t>numbers</a:t>
            </a:r>
            <a:r>
              <a:rPr lang="en-IN" sz="3200" b="0" i="0" u="none" strike="noStrike" dirty="0">
                <a:solidFill>
                  <a:srgbClr val="000000"/>
                </a:solidFill>
                <a:latin typeface="Times New Roman"/>
                <a:ea typeface="Times New Roman"/>
                <a:cs typeface="Times New Roman"/>
                <a:sym typeface="Times New Roman"/>
              </a:rPr>
              <a:t> is 47. Find the average of the last two </a:t>
            </a:r>
            <a:r>
              <a:rPr lang="en-IN" sz="3200" dirty="0">
                <a:solidFill>
                  <a:srgbClr val="000000"/>
                </a:solidFill>
                <a:latin typeface="Times New Roman"/>
                <a:ea typeface="Times New Roman"/>
                <a:cs typeface="Times New Roman"/>
                <a:sym typeface="Times New Roman"/>
              </a:rPr>
              <a:t>numbers</a:t>
            </a:r>
            <a:r>
              <a:rPr lang="en-IN" sz="3200" b="0" i="0" u="none" strike="noStrike" dirty="0">
                <a:solidFill>
                  <a:srgbClr val="000000"/>
                </a:solidFill>
                <a:latin typeface="Times New Roman"/>
                <a:ea typeface="Times New Roman"/>
                <a:cs typeface="Times New Roman"/>
                <a:sym typeface="Times New Roman"/>
              </a:rPr>
              <a:t>.</a:t>
            </a:r>
            <a:br>
              <a:rPr lang="en-IN" sz="3200" b="0" dirty="0"/>
            </a:br>
            <a:r>
              <a:rPr lang="en-IN" sz="3200" b="0" i="0" u="none" strike="noStrike" dirty="0">
                <a:solidFill>
                  <a:srgbClr val="000000"/>
                </a:solidFill>
                <a:latin typeface="Times New Roman"/>
                <a:ea typeface="Times New Roman"/>
                <a:cs typeface="Times New Roman"/>
                <a:sym typeface="Times New Roman"/>
              </a:rPr>
              <a:t>(a) 28               (b) 29                 (c) 30                (d) 31</a:t>
            </a:r>
            <a:endParaRPr sz="3200" b="1" dirty="0">
              <a:latin typeface="Calibri"/>
              <a:ea typeface="Calibri"/>
              <a:cs typeface="Calibri"/>
              <a:sym typeface="Calibri"/>
            </a:endParaRPr>
          </a:p>
        </p:txBody>
      </p:sp>
      <p:sp>
        <p:nvSpPr>
          <p:cNvPr id="199" name="Google Shape;199;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IN"/>
              <a:t>Galgotias University</a:t>
            </a:r>
            <a:endParaRPr/>
          </a:p>
        </p:txBody>
      </p:sp>
      <p:sp>
        <p:nvSpPr>
          <p:cNvPr id="200" name="Google Shape;200;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IN"/>
              <a:t>10</a:t>
            </a:fld>
            <a:endParaRPr/>
          </a:p>
        </p:txBody>
      </p:sp>
      <p:pic>
        <p:nvPicPr>
          <p:cNvPr id="201" name="Google Shape;201;p10" descr="A blue circle with text and words&#10;&#10;Description automatically generated"/>
          <p:cNvPicPr preferRelativeResize="0"/>
          <p:nvPr/>
        </p:nvPicPr>
        <p:blipFill rotWithShape="1">
          <a:blip r:embed="rId3">
            <a:alphaModFix/>
          </a:blip>
          <a:srcRect/>
          <a:stretch/>
        </p:blipFill>
        <p:spPr>
          <a:xfrm>
            <a:off x="10758566" y="176754"/>
            <a:ext cx="874732" cy="874732"/>
          </a:xfrm>
          <a:prstGeom prst="rect">
            <a:avLst/>
          </a:prstGeom>
          <a:noFill/>
          <a:ln>
            <a:noFill/>
          </a:ln>
        </p:spPr>
      </p:pic>
      <p:pic>
        <p:nvPicPr>
          <p:cNvPr id="202" name="Google Shape;202;p10"/>
          <p:cNvPicPr preferRelativeResize="0"/>
          <p:nvPr/>
        </p:nvPicPr>
        <p:blipFill rotWithShape="1">
          <a:blip r:embed="rId4">
            <a:alphaModFix/>
          </a:blip>
          <a:srcRect/>
          <a:stretch/>
        </p:blipFill>
        <p:spPr>
          <a:xfrm>
            <a:off x="104932" y="114202"/>
            <a:ext cx="3795634" cy="740238"/>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06"/>
        <p:cNvGrpSpPr/>
        <p:nvPr/>
      </p:nvGrpSpPr>
      <p:grpSpPr>
        <a:xfrm>
          <a:off x="0" y="0"/>
          <a:ext cx="0" cy="0"/>
          <a:chOff x="0" y="0"/>
          <a:chExt cx="0" cy="0"/>
        </a:xfrm>
      </p:grpSpPr>
      <p:sp>
        <p:nvSpPr>
          <p:cNvPr id="207" name="Google Shape;207;p11"/>
          <p:cNvSpPr txBox="1">
            <a:spLocks noGrp="1"/>
          </p:cNvSpPr>
          <p:nvPr>
            <p:ph type="title"/>
          </p:nvPr>
        </p:nvSpPr>
        <p:spPr>
          <a:xfrm>
            <a:off x="104932" y="854440"/>
            <a:ext cx="11422142" cy="3017649"/>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800"/>
              </a:spcAft>
              <a:buSzPts val="1800"/>
              <a:buNone/>
            </a:pPr>
            <a:r>
              <a:rPr lang="en-IN" sz="4000" b="1" dirty="0">
                <a:latin typeface="Times New Roman"/>
                <a:ea typeface="Times New Roman"/>
                <a:cs typeface="Times New Roman"/>
                <a:sym typeface="Times New Roman"/>
              </a:rPr>
              <a:t>Q4. </a:t>
            </a:r>
            <a:r>
              <a:rPr lang="en-IN" sz="3200" b="0" i="0" u="none" strike="noStrike" dirty="0">
                <a:solidFill>
                  <a:srgbClr val="000000"/>
                </a:solidFill>
                <a:latin typeface="Times New Roman"/>
                <a:ea typeface="Times New Roman"/>
                <a:cs typeface="Times New Roman"/>
                <a:sym typeface="Times New Roman"/>
              </a:rPr>
              <a:t>The average of 9 numbers is 79. The average of the first two </a:t>
            </a:r>
            <a:r>
              <a:rPr lang="en-IN" sz="3200" dirty="0">
                <a:solidFill>
                  <a:srgbClr val="000000"/>
                </a:solidFill>
                <a:latin typeface="Times New Roman"/>
                <a:ea typeface="Times New Roman"/>
                <a:cs typeface="Times New Roman"/>
                <a:sym typeface="Times New Roman"/>
              </a:rPr>
              <a:t>numbers</a:t>
            </a:r>
            <a:r>
              <a:rPr lang="en-IN" sz="3200" b="0" i="0" u="none" strike="noStrike" dirty="0">
                <a:solidFill>
                  <a:srgbClr val="000000"/>
                </a:solidFill>
                <a:latin typeface="Times New Roman"/>
                <a:ea typeface="Times New Roman"/>
                <a:cs typeface="Times New Roman"/>
                <a:sym typeface="Times New Roman"/>
              </a:rPr>
              <a:t> is 75. Also, the average of the next four </a:t>
            </a:r>
            <a:r>
              <a:rPr lang="en-IN" sz="3200" dirty="0">
                <a:solidFill>
                  <a:srgbClr val="000000"/>
                </a:solidFill>
                <a:latin typeface="Times New Roman"/>
                <a:ea typeface="Times New Roman"/>
                <a:cs typeface="Times New Roman"/>
                <a:sym typeface="Times New Roman"/>
              </a:rPr>
              <a:t>numbers</a:t>
            </a:r>
            <a:r>
              <a:rPr lang="en-IN" sz="3200" b="0" i="0" u="none" strike="noStrike" dirty="0">
                <a:solidFill>
                  <a:srgbClr val="000000"/>
                </a:solidFill>
                <a:latin typeface="Times New Roman"/>
                <a:ea typeface="Times New Roman"/>
                <a:cs typeface="Times New Roman"/>
                <a:sym typeface="Times New Roman"/>
              </a:rPr>
              <a:t> is 87. If the 8</a:t>
            </a:r>
            <a:r>
              <a:rPr lang="en-IN" sz="3200" b="0" i="0" u="none" strike="noStrike" baseline="30000" dirty="0">
                <a:solidFill>
                  <a:srgbClr val="000000"/>
                </a:solidFill>
                <a:latin typeface="Times New Roman"/>
                <a:ea typeface="Times New Roman"/>
                <a:cs typeface="Times New Roman"/>
                <a:sym typeface="Times New Roman"/>
              </a:rPr>
              <a:t>th</a:t>
            </a:r>
            <a:r>
              <a:rPr lang="en-IN" sz="3200" b="0" i="0" u="none" strike="noStrike" dirty="0">
                <a:solidFill>
                  <a:srgbClr val="000000"/>
                </a:solidFill>
                <a:latin typeface="Times New Roman"/>
                <a:ea typeface="Times New Roman"/>
                <a:cs typeface="Times New Roman"/>
                <a:sym typeface="Times New Roman"/>
              </a:rPr>
              <a:t> </a:t>
            </a:r>
            <a:r>
              <a:rPr lang="en-IN" sz="3200" dirty="0">
                <a:solidFill>
                  <a:srgbClr val="000000"/>
                </a:solidFill>
                <a:latin typeface="Times New Roman"/>
                <a:ea typeface="Times New Roman"/>
                <a:cs typeface="Times New Roman"/>
                <a:sym typeface="Times New Roman"/>
              </a:rPr>
              <a:t>number</a:t>
            </a:r>
            <a:r>
              <a:rPr lang="en-IN" sz="3200" b="0" i="0" u="none" strike="noStrike" dirty="0">
                <a:solidFill>
                  <a:srgbClr val="000000"/>
                </a:solidFill>
                <a:latin typeface="Times New Roman"/>
                <a:ea typeface="Times New Roman"/>
                <a:cs typeface="Times New Roman"/>
                <a:sym typeface="Times New Roman"/>
              </a:rPr>
              <a:t> is five more than </a:t>
            </a:r>
            <a:r>
              <a:rPr lang="en-IN" sz="3200" dirty="0">
                <a:solidFill>
                  <a:srgbClr val="000000"/>
                </a:solidFill>
                <a:latin typeface="Times New Roman"/>
                <a:ea typeface="Times New Roman"/>
                <a:cs typeface="Times New Roman"/>
                <a:sym typeface="Times New Roman"/>
              </a:rPr>
              <a:t>7</a:t>
            </a:r>
            <a:r>
              <a:rPr lang="en-IN" sz="3200" b="0" i="0" u="none" strike="noStrike" baseline="30000" dirty="0">
                <a:solidFill>
                  <a:srgbClr val="000000"/>
                </a:solidFill>
                <a:latin typeface="Times New Roman"/>
                <a:ea typeface="Times New Roman"/>
                <a:cs typeface="Times New Roman"/>
                <a:sym typeface="Times New Roman"/>
              </a:rPr>
              <a:t>th </a:t>
            </a:r>
            <a:r>
              <a:rPr lang="en-IN" sz="3200" b="0" i="0" u="none" strike="noStrike" dirty="0">
                <a:solidFill>
                  <a:srgbClr val="000000"/>
                </a:solidFill>
                <a:latin typeface="Times New Roman"/>
                <a:ea typeface="Times New Roman"/>
                <a:cs typeface="Times New Roman"/>
                <a:sym typeface="Times New Roman"/>
              </a:rPr>
              <a:t>number and one more than </a:t>
            </a:r>
            <a:r>
              <a:rPr lang="en-IN" sz="3200" dirty="0">
                <a:solidFill>
                  <a:srgbClr val="000000"/>
                </a:solidFill>
                <a:latin typeface="Times New Roman"/>
                <a:ea typeface="Times New Roman"/>
                <a:cs typeface="Times New Roman"/>
                <a:sym typeface="Times New Roman"/>
              </a:rPr>
              <a:t>9</a:t>
            </a:r>
            <a:r>
              <a:rPr lang="en-IN" sz="3200" baseline="30000" dirty="0">
                <a:solidFill>
                  <a:srgbClr val="000000"/>
                </a:solidFill>
                <a:latin typeface="Times New Roman"/>
                <a:ea typeface="Times New Roman"/>
                <a:cs typeface="Times New Roman"/>
                <a:sym typeface="Times New Roman"/>
              </a:rPr>
              <a:t>th</a:t>
            </a:r>
            <a:r>
              <a:rPr lang="en-IN" sz="3200" b="0" i="0" u="none" strike="noStrike" dirty="0">
                <a:solidFill>
                  <a:srgbClr val="000000"/>
                </a:solidFill>
                <a:latin typeface="Times New Roman"/>
                <a:ea typeface="Times New Roman"/>
                <a:cs typeface="Times New Roman"/>
                <a:sym typeface="Times New Roman"/>
              </a:rPr>
              <a:t> number. Calculate 9</a:t>
            </a:r>
            <a:r>
              <a:rPr lang="en-IN" sz="3200" b="0" i="0" u="none" strike="noStrike" baseline="30000" dirty="0">
                <a:solidFill>
                  <a:srgbClr val="000000"/>
                </a:solidFill>
                <a:latin typeface="Times New Roman"/>
                <a:ea typeface="Times New Roman"/>
                <a:cs typeface="Times New Roman"/>
                <a:sym typeface="Times New Roman"/>
              </a:rPr>
              <a:t>th</a:t>
            </a:r>
            <a:r>
              <a:rPr lang="en-IN" sz="3200" b="0" i="0" u="none" strike="noStrike" dirty="0">
                <a:solidFill>
                  <a:srgbClr val="000000"/>
                </a:solidFill>
                <a:latin typeface="Times New Roman"/>
                <a:ea typeface="Times New Roman"/>
                <a:cs typeface="Times New Roman"/>
                <a:sym typeface="Times New Roman"/>
              </a:rPr>
              <a:t> </a:t>
            </a:r>
            <a:r>
              <a:rPr lang="en-IN" sz="3200" dirty="0">
                <a:solidFill>
                  <a:srgbClr val="000000"/>
                </a:solidFill>
                <a:latin typeface="Times New Roman"/>
                <a:ea typeface="Times New Roman"/>
                <a:cs typeface="Times New Roman"/>
                <a:sym typeface="Times New Roman"/>
              </a:rPr>
              <a:t>number</a:t>
            </a:r>
            <a:r>
              <a:rPr lang="en-IN" sz="3200" b="0" i="0" u="none" strike="noStrike" dirty="0">
                <a:solidFill>
                  <a:srgbClr val="000000"/>
                </a:solidFill>
                <a:latin typeface="Times New Roman"/>
                <a:ea typeface="Times New Roman"/>
                <a:cs typeface="Times New Roman"/>
                <a:sym typeface="Times New Roman"/>
              </a:rPr>
              <a:t>.</a:t>
            </a:r>
            <a:br>
              <a:rPr lang="en-IN" sz="3200" b="0" dirty="0"/>
            </a:br>
            <a:r>
              <a:rPr lang="en-IN" sz="3200" b="0" i="0" u="none" strike="noStrike" dirty="0">
                <a:solidFill>
                  <a:srgbClr val="000000"/>
                </a:solidFill>
                <a:latin typeface="Times New Roman"/>
                <a:ea typeface="Times New Roman"/>
                <a:cs typeface="Times New Roman"/>
                <a:sym typeface="Times New Roman"/>
              </a:rPr>
              <a:t>(a) 78                  (b) 79                     (c) 72                 (d) 71</a:t>
            </a:r>
            <a:endParaRPr sz="3200" b="1" dirty="0">
              <a:latin typeface="Calibri"/>
              <a:ea typeface="Calibri"/>
              <a:cs typeface="Calibri"/>
              <a:sym typeface="Calibri"/>
            </a:endParaRPr>
          </a:p>
        </p:txBody>
      </p:sp>
      <p:sp>
        <p:nvSpPr>
          <p:cNvPr id="208" name="Google Shape;208;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IN"/>
              <a:t>Galgotias University</a:t>
            </a:r>
            <a:endParaRPr/>
          </a:p>
        </p:txBody>
      </p:sp>
      <p:sp>
        <p:nvSpPr>
          <p:cNvPr id="209" name="Google Shape;209;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IN"/>
              <a:t>11</a:t>
            </a:fld>
            <a:endParaRPr/>
          </a:p>
        </p:txBody>
      </p:sp>
      <p:pic>
        <p:nvPicPr>
          <p:cNvPr id="210" name="Google Shape;210;p11" descr="A blue circle with text and words&#10;&#10;Description automatically generated"/>
          <p:cNvPicPr preferRelativeResize="0"/>
          <p:nvPr/>
        </p:nvPicPr>
        <p:blipFill rotWithShape="1">
          <a:blip r:embed="rId3">
            <a:alphaModFix/>
          </a:blip>
          <a:srcRect/>
          <a:stretch/>
        </p:blipFill>
        <p:spPr>
          <a:xfrm>
            <a:off x="10758566" y="176754"/>
            <a:ext cx="874732" cy="874732"/>
          </a:xfrm>
          <a:prstGeom prst="rect">
            <a:avLst/>
          </a:prstGeom>
          <a:noFill/>
          <a:ln>
            <a:noFill/>
          </a:ln>
        </p:spPr>
      </p:pic>
      <p:pic>
        <p:nvPicPr>
          <p:cNvPr id="211" name="Google Shape;211;p11"/>
          <p:cNvPicPr preferRelativeResize="0"/>
          <p:nvPr/>
        </p:nvPicPr>
        <p:blipFill rotWithShape="1">
          <a:blip r:embed="rId4">
            <a:alphaModFix/>
          </a:blip>
          <a:srcRect/>
          <a:stretch/>
        </p:blipFill>
        <p:spPr>
          <a:xfrm>
            <a:off x="104932" y="114202"/>
            <a:ext cx="3795634" cy="740238"/>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15"/>
        <p:cNvGrpSpPr/>
        <p:nvPr/>
      </p:nvGrpSpPr>
      <p:grpSpPr>
        <a:xfrm>
          <a:off x="0" y="0"/>
          <a:ext cx="0" cy="0"/>
          <a:chOff x="0" y="0"/>
          <a:chExt cx="0" cy="0"/>
        </a:xfrm>
      </p:grpSpPr>
      <p:sp>
        <p:nvSpPr>
          <p:cNvPr id="216" name="Google Shape;216;p12"/>
          <p:cNvSpPr txBox="1">
            <a:spLocks noGrp="1"/>
          </p:cNvSpPr>
          <p:nvPr>
            <p:ph type="title"/>
          </p:nvPr>
        </p:nvSpPr>
        <p:spPr>
          <a:xfrm>
            <a:off x="237067" y="854441"/>
            <a:ext cx="11290007" cy="3028938"/>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800"/>
              </a:spcAft>
              <a:buSzPts val="1800"/>
              <a:buNone/>
            </a:pPr>
            <a:r>
              <a:rPr lang="en-IN" sz="4000" b="1" dirty="0">
                <a:latin typeface="Times New Roman"/>
                <a:ea typeface="Times New Roman"/>
                <a:cs typeface="Times New Roman"/>
                <a:sym typeface="Times New Roman"/>
              </a:rPr>
              <a:t>Q5. </a:t>
            </a:r>
            <a:r>
              <a:rPr lang="en-IN" sz="3200" b="0" i="0" u="none" strike="noStrike" dirty="0">
                <a:solidFill>
                  <a:srgbClr val="000000"/>
                </a:solidFill>
                <a:latin typeface="Times New Roman"/>
                <a:ea typeface="Times New Roman"/>
                <a:cs typeface="Times New Roman"/>
                <a:sym typeface="Times New Roman"/>
              </a:rPr>
              <a:t>The average weight of A, B &amp; C is 84 kg. If D joins, the average weight becomes 80 kg. If another person E who is 3 kg heavier than D replaces A, then the average weight of B, C, D and E becomes 79 kg. Find the weight of A?</a:t>
            </a:r>
            <a:br>
              <a:rPr lang="en-IN" sz="3200" b="0" dirty="0"/>
            </a:br>
            <a:r>
              <a:rPr lang="en-IN" sz="3200" b="0" i="0" u="none" strike="noStrike" dirty="0">
                <a:solidFill>
                  <a:srgbClr val="000000"/>
                </a:solidFill>
                <a:latin typeface="Times New Roman"/>
                <a:ea typeface="Times New Roman"/>
                <a:cs typeface="Times New Roman"/>
                <a:sym typeface="Times New Roman"/>
              </a:rPr>
              <a:t>(a) 75            (b) 79                   (c) 80                (d) 81</a:t>
            </a:r>
            <a:endParaRPr sz="3200" b="1" dirty="0">
              <a:latin typeface="Calibri"/>
              <a:ea typeface="Calibri"/>
              <a:cs typeface="Calibri"/>
              <a:sym typeface="Calibri"/>
            </a:endParaRPr>
          </a:p>
        </p:txBody>
      </p:sp>
      <p:sp>
        <p:nvSpPr>
          <p:cNvPr id="217" name="Google Shape;217;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IN"/>
              <a:t>Galgotias University</a:t>
            </a:r>
            <a:endParaRPr/>
          </a:p>
        </p:txBody>
      </p:sp>
      <p:sp>
        <p:nvSpPr>
          <p:cNvPr id="218" name="Google Shape;218;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IN"/>
              <a:t>12</a:t>
            </a:fld>
            <a:endParaRPr/>
          </a:p>
        </p:txBody>
      </p:sp>
      <p:pic>
        <p:nvPicPr>
          <p:cNvPr id="219" name="Google Shape;219;p12" descr="A blue circle with text and words&#10;&#10;Description automatically generated"/>
          <p:cNvPicPr preferRelativeResize="0"/>
          <p:nvPr/>
        </p:nvPicPr>
        <p:blipFill rotWithShape="1">
          <a:blip r:embed="rId3">
            <a:alphaModFix/>
          </a:blip>
          <a:srcRect/>
          <a:stretch/>
        </p:blipFill>
        <p:spPr>
          <a:xfrm>
            <a:off x="10758566" y="176754"/>
            <a:ext cx="874732" cy="874732"/>
          </a:xfrm>
          <a:prstGeom prst="rect">
            <a:avLst/>
          </a:prstGeom>
          <a:noFill/>
          <a:ln>
            <a:noFill/>
          </a:ln>
        </p:spPr>
      </p:pic>
      <p:pic>
        <p:nvPicPr>
          <p:cNvPr id="220" name="Google Shape;220;p12"/>
          <p:cNvPicPr preferRelativeResize="0"/>
          <p:nvPr/>
        </p:nvPicPr>
        <p:blipFill rotWithShape="1">
          <a:blip r:embed="rId4">
            <a:alphaModFix/>
          </a:blip>
          <a:srcRect/>
          <a:stretch/>
        </p:blipFill>
        <p:spPr>
          <a:xfrm>
            <a:off x="104932" y="114202"/>
            <a:ext cx="3795634" cy="740238"/>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24"/>
        <p:cNvGrpSpPr/>
        <p:nvPr/>
      </p:nvGrpSpPr>
      <p:grpSpPr>
        <a:xfrm>
          <a:off x="0" y="0"/>
          <a:ext cx="0" cy="0"/>
          <a:chOff x="0" y="0"/>
          <a:chExt cx="0" cy="0"/>
        </a:xfrm>
      </p:grpSpPr>
      <p:sp>
        <p:nvSpPr>
          <p:cNvPr id="225" name="Google Shape;225;p13"/>
          <p:cNvSpPr txBox="1">
            <a:spLocks noGrp="1"/>
          </p:cNvSpPr>
          <p:nvPr>
            <p:ph type="title"/>
          </p:nvPr>
        </p:nvSpPr>
        <p:spPr>
          <a:xfrm>
            <a:off x="203200" y="854441"/>
            <a:ext cx="11323874" cy="2927338"/>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800"/>
              </a:spcAft>
              <a:buSzPts val="1800"/>
              <a:buNone/>
            </a:pPr>
            <a:r>
              <a:rPr lang="en-IN" sz="4000" b="1" dirty="0">
                <a:latin typeface="Times New Roman"/>
                <a:ea typeface="Times New Roman"/>
                <a:cs typeface="Times New Roman"/>
                <a:sym typeface="Times New Roman"/>
              </a:rPr>
              <a:t>Q6. </a:t>
            </a:r>
            <a:r>
              <a:rPr lang="en-IN" sz="3200" b="0" i="0" u="none" strike="noStrike" dirty="0">
                <a:solidFill>
                  <a:srgbClr val="000000"/>
                </a:solidFill>
                <a:latin typeface="Times New Roman"/>
                <a:ea typeface="Times New Roman"/>
                <a:cs typeface="Times New Roman"/>
                <a:sym typeface="Times New Roman"/>
              </a:rPr>
              <a:t>The average weight of four people A, B, C, D is 40 kg. If E is included then the average of A, B, C, D, E becomes 41 kg. If A is replaced by F then the average of B, C, D, E, F is 45 kg. Find the average of B, C, D, F.</a:t>
            </a:r>
            <a:br>
              <a:rPr lang="en-IN" sz="3200" b="0" dirty="0"/>
            </a:br>
            <a:r>
              <a:rPr lang="en-IN" sz="3200" b="0" i="0" u="none" strike="noStrike" dirty="0">
                <a:solidFill>
                  <a:srgbClr val="000000"/>
                </a:solidFill>
                <a:latin typeface="Times New Roman"/>
                <a:ea typeface="Times New Roman"/>
                <a:cs typeface="Times New Roman"/>
                <a:sym typeface="Times New Roman"/>
              </a:rPr>
              <a:t>(a) 48                (b) 49               (c) 50                    (d) 45</a:t>
            </a:r>
            <a:endParaRPr sz="3200" b="1" dirty="0">
              <a:latin typeface="Calibri"/>
              <a:ea typeface="Calibri"/>
              <a:cs typeface="Calibri"/>
              <a:sym typeface="Calibri"/>
            </a:endParaRPr>
          </a:p>
        </p:txBody>
      </p:sp>
      <p:sp>
        <p:nvSpPr>
          <p:cNvPr id="226" name="Google Shape;226;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IN"/>
              <a:t>Galgotias University</a:t>
            </a:r>
            <a:endParaRPr/>
          </a:p>
        </p:txBody>
      </p:sp>
      <p:sp>
        <p:nvSpPr>
          <p:cNvPr id="227" name="Google Shape;227;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IN"/>
              <a:t>13</a:t>
            </a:fld>
            <a:endParaRPr/>
          </a:p>
        </p:txBody>
      </p:sp>
      <p:pic>
        <p:nvPicPr>
          <p:cNvPr id="228" name="Google Shape;228;p13" descr="A blue circle with text and words&#10;&#10;Description automatically generated"/>
          <p:cNvPicPr preferRelativeResize="0"/>
          <p:nvPr/>
        </p:nvPicPr>
        <p:blipFill rotWithShape="1">
          <a:blip r:embed="rId3">
            <a:alphaModFix/>
          </a:blip>
          <a:srcRect/>
          <a:stretch/>
        </p:blipFill>
        <p:spPr>
          <a:xfrm>
            <a:off x="10758566" y="176754"/>
            <a:ext cx="874732" cy="874732"/>
          </a:xfrm>
          <a:prstGeom prst="rect">
            <a:avLst/>
          </a:prstGeom>
          <a:noFill/>
          <a:ln>
            <a:noFill/>
          </a:ln>
        </p:spPr>
      </p:pic>
      <p:pic>
        <p:nvPicPr>
          <p:cNvPr id="229" name="Google Shape;229;p13"/>
          <p:cNvPicPr preferRelativeResize="0"/>
          <p:nvPr/>
        </p:nvPicPr>
        <p:blipFill rotWithShape="1">
          <a:blip r:embed="rId4">
            <a:alphaModFix/>
          </a:blip>
          <a:srcRect/>
          <a:stretch/>
        </p:blipFill>
        <p:spPr>
          <a:xfrm>
            <a:off x="104932" y="114202"/>
            <a:ext cx="3795634" cy="740238"/>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33"/>
        <p:cNvGrpSpPr/>
        <p:nvPr/>
      </p:nvGrpSpPr>
      <p:grpSpPr>
        <a:xfrm>
          <a:off x="0" y="0"/>
          <a:ext cx="0" cy="0"/>
          <a:chOff x="0" y="0"/>
          <a:chExt cx="0" cy="0"/>
        </a:xfrm>
      </p:grpSpPr>
      <p:sp>
        <p:nvSpPr>
          <p:cNvPr id="234" name="Google Shape;234;p14"/>
          <p:cNvSpPr txBox="1">
            <a:spLocks noGrp="1"/>
          </p:cNvSpPr>
          <p:nvPr>
            <p:ph type="title"/>
          </p:nvPr>
        </p:nvSpPr>
        <p:spPr>
          <a:xfrm>
            <a:off x="191911" y="854441"/>
            <a:ext cx="11335163" cy="257456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800"/>
              </a:spcAft>
              <a:buSzPts val="1800"/>
              <a:buNone/>
            </a:pPr>
            <a:r>
              <a:rPr lang="en-IN" sz="4000" b="1" dirty="0">
                <a:latin typeface="Times New Roman"/>
                <a:ea typeface="Times New Roman"/>
                <a:cs typeface="Times New Roman"/>
                <a:sym typeface="Times New Roman"/>
              </a:rPr>
              <a:t>Q7. </a:t>
            </a:r>
            <a:r>
              <a:rPr lang="en-IN" sz="3200" b="0" i="0" u="none" strike="noStrike" dirty="0">
                <a:solidFill>
                  <a:srgbClr val="000000"/>
                </a:solidFill>
                <a:latin typeface="Times New Roman"/>
                <a:ea typeface="Times New Roman"/>
                <a:cs typeface="Times New Roman"/>
                <a:sym typeface="Times New Roman"/>
              </a:rPr>
              <a:t>Three years ago, the average of a family of five members was 17 years. A baby having been born &amp; the average age of the family is still the same today. Find the age of the child.</a:t>
            </a:r>
            <a:br>
              <a:rPr lang="en-IN" sz="3200" b="0" dirty="0"/>
            </a:br>
            <a:r>
              <a:rPr lang="en-IN" sz="3200" b="0" i="0" u="none" strike="noStrike" dirty="0">
                <a:solidFill>
                  <a:srgbClr val="000000"/>
                </a:solidFill>
                <a:latin typeface="Times New Roman"/>
                <a:ea typeface="Times New Roman"/>
                <a:cs typeface="Times New Roman"/>
                <a:sym typeface="Times New Roman"/>
              </a:rPr>
              <a:t>(a) 1                    (b) 1.5                 (c) 2                    (d) 2.5</a:t>
            </a:r>
            <a:endParaRPr sz="3200" b="1" dirty="0">
              <a:latin typeface="Calibri"/>
              <a:ea typeface="Calibri"/>
              <a:cs typeface="Calibri"/>
              <a:sym typeface="Calibri"/>
            </a:endParaRPr>
          </a:p>
        </p:txBody>
      </p:sp>
      <p:sp>
        <p:nvSpPr>
          <p:cNvPr id="235" name="Google Shape;235;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IN"/>
              <a:t>Galgotias University</a:t>
            </a:r>
            <a:endParaRPr/>
          </a:p>
        </p:txBody>
      </p:sp>
      <p:sp>
        <p:nvSpPr>
          <p:cNvPr id="236" name="Google Shape;236;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IN"/>
              <a:t>14</a:t>
            </a:fld>
            <a:endParaRPr/>
          </a:p>
        </p:txBody>
      </p:sp>
      <p:pic>
        <p:nvPicPr>
          <p:cNvPr id="237" name="Google Shape;237;p14" descr="A blue circle with text and words&#10;&#10;Description automatically generated"/>
          <p:cNvPicPr preferRelativeResize="0"/>
          <p:nvPr/>
        </p:nvPicPr>
        <p:blipFill rotWithShape="1">
          <a:blip r:embed="rId3">
            <a:alphaModFix/>
          </a:blip>
          <a:srcRect/>
          <a:stretch/>
        </p:blipFill>
        <p:spPr>
          <a:xfrm>
            <a:off x="10758566" y="176754"/>
            <a:ext cx="874732" cy="874732"/>
          </a:xfrm>
          <a:prstGeom prst="rect">
            <a:avLst/>
          </a:prstGeom>
          <a:noFill/>
          <a:ln>
            <a:noFill/>
          </a:ln>
        </p:spPr>
      </p:pic>
      <p:pic>
        <p:nvPicPr>
          <p:cNvPr id="238" name="Google Shape;238;p14"/>
          <p:cNvPicPr preferRelativeResize="0"/>
          <p:nvPr/>
        </p:nvPicPr>
        <p:blipFill rotWithShape="1">
          <a:blip r:embed="rId4">
            <a:alphaModFix/>
          </a:blip>
          <a:srcRect/>
          <a:stretch/>
        </p:blipFill>
        <p:spPr>
          <a:xfrm>
            <a:off x="104932" y="114202"/>
            <a:ext cx="3795634" cy="740238"/>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42"/>
        <p:cNvGrpSpPr/>
        <p:nvPr/>
      </p:nvGrpSpPr>
      <p:grpSpPr>
        <a:xfrm>
          <a:off x="0" y="0"/>
          <a:ext cx="0" cy="0"/>
          <a:chOff x="0" y="0"/>
          <a:chExt cx="0" cy="0"/>
        </a:xfrm>
      </p:grpSpPr>
      <p:sp>
        <p:nvSpPr>
          <p:cNvPr id="243" name="Google Shape;243;p15"/>
          <p:cNvSpPr txBox="1">
            <a:spLocks noGrp="1"/>
          </p:cNvSpPr>
          <p:nvPr>
            <p:ph type="title"/>
          </p:nvPr>
        </p:nvSpPr>
        <p:spPr>
          <a:xfrm>
            <a:off x="214489" y="854440"/>
            <a:ext cx="11312585" cy="2712849"/>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800"/>
              </a:spcAft>
              <a:buSzPts val="1800"/>
              <a:buNone/>
            </a:pPr>
            <a:r>
              <a:rPr lang="en-IN" sz="4000" b="1" dirty="0">
                <a:latin typeface="Times New Roman"/>
                <a:ea typeface="Times New Roman"/>
                <a:cs typeface="Times New Roman"/>
                <a:sym typeface="Times New Roman"/>
              </a:rPr>
              <a:t>Q8. </a:t>
            </a:r>
            <a:r>
              <a:rPr lang="en-IN" sz="3200" b="0" i="0" u="none" strike="noStrike" dirty="0">
                <a:solidFill>
                  <a:srgbClr val="000000"/>
                </a:solidFill>
                <a:latin typeface="Times New Roman"/>
                <a:ea typeface="Times New Roman"/>
                <a:cs typeface="Times New Roman"/>
                <a:sym typeface="Times New Roman"/>
              </a:rPr>
              <a:t>There are 35 students in a hostel. If the number of students increased by 7, the expense of mess increased by Rs. 42 per day. While the average expenditure per head decreased by Rs. 1. Find the original expenditure of the mess?</a:t>
            </a:r>
            <a:br>
              <a:rPr lang="en-IN" sz="3200" b="0" dirty="0"/>
            </a:br>
            <a:r>
              <a:rPr lang="en-IN" sz="3200" b="0" i="0" u="none" strike="noStrike" dirty="0">
                <a:solidFill>
                  <a:srgbClr val="000000"/>
                </a:solidFill>
                <a:latin typeface="Times New Roman"/>
                <a:ea typeface="Times New Roman"/>
                <a:cs typeface="Times New Roman"/>
                <a:sym typeface="Times New Roman"/>
              </a:rPr>
              <a:t>(a) 480              (b) 490               (c) 420                 (d) 510</a:t>
            </a:r>
            <a:endParaRPr sz="3200" b="1" dirty="0">
              <a:latin typeface="Calibri"/>
              <a:ea typeface="Calibri"/>
              <a:cs typeface="Calibri"/>
              <a:sym typeface="Calibri"/>
            </a:endParaRPr>
          </a:p>
        </p:txBody>
      </p:sp>
      <p:sp>
        <p:nvSpPr>
          <p:cNvPr id="244" name="Google Shape;244;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IN"/>
              <a:t>Galgotias University</a:t>
            </a:r>
            <a:endParaRPr/>
          </a:p>
        </p:txBody>
      </p:sp>
      <p:sp>
        <p:nvSpPr>
          <p:cNvPr id="245" name="Google Shape;245;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IN"/>
              <a:t>15</a:t>
            </a:fld>
            <a:endParaRPr/>
          </a:p>
        </p:txBody>
      </p:sp>
      <p:pic>
        <p:nvPicPr>
          <p:cNvPr id="246" name="Google Shape;246;p15" descr="A blue circle with text and words&#10;&#10;Description automatically generated"/>
          <p:cNvPicPr preferRelativeResize="0"/>
          <p:nvPr/>
        </p:nvPicPr>
        <p:blipFill rotWithShape="1">
          <a:blip r:embed="rId3">
            <a:alphaModFix/>
          </a:blip>
          <a:srcRect/>
          <a:stretch/>
        </p:blipFill>
        <p:spPr>
          <a:xfrm>
            <a:off x="10758566" y="176754"/>
            <a:ext cx="874732" cy="874732"/>
          </a:xfrm>
          <a:prstGeom prst="rect">
            <a:avLst/>
          </a:prstGeom>
          <a:noFill/>
          <a:ln>
            <a:noFill/>
          </a:ln>
        </p:spPr>
      </p:pic>
      <p:pic>
        <p:nvPicPr>
          <p:cNvPr id="247" name="Google Shape;247;p15"/>
          <p:cNvPicPr preferRelativeResize="0"/>
          <p:nvPr/>
        </p:nvPicPr>
        <p:blipFill rotWithShape="1">
          <a:blip r:embed="rId4">
            <a:alphaModFix/>
          </a:blip>
          <a:srcRect/>
          <a:stretch/>
        </p:blipFill>
        <p:spPr>
          <a:xfrm>
            <a:off x="104932" y="114202"/>
            <a:ext cx="3795634" cy="740238"/>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51"/>
        <p:cNvGrpSpPr/>
        <p:nvPr/>
      </p:nvGrpSpPr>
      <p:grpSpPr>
        <a:xfrm>
          <a:off x="0" y="0"/>
          <a:ext cx="0" cy="0"/>
          <a:chOff x="0" y="0"/>
          <a:chExt cx="0" cy="0"/>
        </a:xfrm>
      </p:grpSpPr>
      <p:sp>
        <p:nvSpPr>
          <p:cNvPr id="252" name="Google Shape;252;p16"/>
          <p:cNvSpPr txBox="1">
            <a:spLocks noGrp="1"/>
          </p:cNvSpPr>
          <p:nvPr>
            <p:ph type="title"/>
          </p:nvPr>
        </p:nvSpPr>
        <p:spPr>
          <a:xfrm>
            <a:off x="104932" y="1051487"/>
            <a:ext cx="11422142" cy="2377514"/>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800"/>
              </a:spcAft>
              <a:buSzPts val="1800"/>
              <a:buNone/>
            </a:pPr>
            <a:r>
              <a:rPr lang="en-IN" sz="4000" b="1" dirty="0">
                <a:latin typeface="Times New Roman"/>
                <a:ea typeface="Times New Roman"/>
                <a:cs typeface="Times New Roman"/>
                <a:sym typeface="Times New Roman"/>
              </a:rPr>
              <a:t>Q9. </a:t>
            </a:r>
            <a:r>
              <a:rPr lang="en-IN" sz="3200" b="0" i="0" u="none" strike="noStrike" dirty="0">
                <a:solidFill>
                  <a:srgbClr val="000000"/>
                </a:solidFill>
                <a:latin typeface="Times New Roman"/>
                <a:ea typeface="Times New Roman"/>
                <a:cs typeface="Times New Roman"/>
                <a:sym typeface="Times New Roman"/>
              </a:rPr>
              <a:t>The average of 100 numbers is 46 but it was found that two numbers 16 &amp; 43 are mistakenly calculated as 61 &amp; 34. Find the correct average if it was found that the total number is only 90.</a:t>
            </a:r>
            <a:br>
              <a:rPr lang="en-IN" sz="3200" b="0" dirty="0"/>
            </a:br>
            <a:r>
              <a:rPr lang="en-IN" sz="3200" b="0" i="0" u="none" strike="noStrike" dirty="0">
                <a:solidFill>
                  <a:srgbClr val="000000"/>
                </a:solidFill>
                <a:latin typeface="Times New Roman"/>
                <a:ea typeface="Times New Roman"/>
                <a:cs typeface="Times New Roman"/>
                <a:sym typeface="Times New Roman"/>
              </a:rPr>
              <a:t>(a) 48.7               (b) 49.8                  (c) 50.7              (d) 51.5</a:t>
            </a:r>
            <a:endParaRPr sz="3200" b="1" dirty="0">
              <a:latin typeface="Calibri"/>
              <a:ea typeface="Calibri"/>
              <a:cs typeface="Calibri"/>
              <a:sym typeface="Calibri"/>
            </a:endParaRPr>
          </a:p>
        </p:txBody>
      </p:sp>
      <p:sp>
        <p:nvSpPr>
          <p:cNvPr id="253" name="Google Shape;253;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IN"/>
              <a:t>Galgotias University</a:t>
            </a:r>
            <a:endParaRPr/>
          </a:p>
        </p:txBody>
      </p:sp>
      <p:sp>
        <p:nvSpPr>
          <p:cNvPr id="254" name="Google Shape;254;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IN"/>
              <a:t>16</a:t>
            </a:fld>
            <a:endParaRPr/>
          </a:p>
        </p:txBody>
      </p:sp>
      <p:pic>
        <p:nvPicPr>
          <p:cNvPr id="255" name="Google Shape;255;p16" descr="A blue circle with text and words&#10;&#10;Description automatically generated"/>
          <p:cNvPicPr preferRelativeResize="0"/>
          <p:nvPr/>
        </p:nvPicPr>
        <p:blipFill rotWithShape="1">
          <a:blip r:embed="rId3">
            <a:alphaModFix/>
          </a:blip>
          <a:srcRect/>
          <a:stretch/>
        </p:blipFill>
        <p:spPr>
          <a:xfrm>
            <a:off x="10758566" y="176754"/>
            <a:ext cx="874732" cy="874732"/>
          </a:xfrm>
          <a:prstGeom prst="rect">
            <a:avLst/>
          </a:prstGeom>
          <a:noFill/>
          <a:ln>
            <a:noFill/>
          </a:ln>
        </p:spPr>
      </p:pic>
      <p:pic>
        <p:nvPicPr>
          <p:cNvPr id="256" name="Google Shape;256;p16"/>
          <p:cNvPicPr preferRelativeResize="0"/>
          <p:nvPr/>
        </p:nvPicPr>
        <p:blipFill rotWithShape="1">
          <a:blip r:embed="rId4">
            <a:alphaModFix/>
          </a:blip>
          <a:srcRect/>
          <a:stretch/>
        </p:blipFill>
        <p:spPr>
          <a:xfrm>
            <a:off x="104932" y="114202"/>
            <a:ext cx="3795634" cy="740238"/>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60"/>
        <p:cNvGrpSpPr/>
        <p:nvPr/>
      </p:nvGrpSpPr>
      <p:grpSpPr>
        <a:xfrm>
          <a:off x="0" y="0"/>
          <a:ext cx="0" cy="0"/>
          <a:chOff x="0" y="0"/>
          <a:chExt cx="0" cy="0"/>
        </a:xfrm>
      </p:grpSpPr>
      <p:sp>
        <p:nvSpPr>
          <p:cNvPr id="261" name="Google Shape;261;p17"/>
          <p:cNvSpPr txBox="1">
            <a:spLocks noGrp="1"/>
          </p:cNvSpPr>
          <p:nvPr>
            <p:ph type="title"/>
          </p:nvPr>
        </p:nvSpPr>
        <p:spPr>
          <a:xfrm>
            <a:off x="104933" y="1051487"/>
            <a:ext cx="11528366" cy="2377514"/>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800"/>
              </a:spcAft>
              <a:buSzPts val="1800"/>
              <a:buNone/>
            </a:pPr>
            <a:r>
              <a:rPr lang="en-IN" sz="4000" b="1" dirty="0">
                <a:latin typeface="Times New Roman"/>
                <a:ea typeface="Times New Roman"/>
                <a:cs typeface="Times New Roman"/>
                <a:sym typeface="Times New Roman"/>
              </a:rPr>
              <a:t>Q10. </a:t>
            </a:r>
            <a:r>
              <a:rPr lang="en-IN" sz="3200" b="0" i="0" u="none" strike="noStrike" dirty="0">
                <a:solidFill>
                  <a:srgbClr val="000000"/>
                </a:solidFill>
                <a:latin typeface="Times New Roman"/>
                <a:ea typeface="Times New Roman"/>
                <a:cs typeface="Times New Roman"/>
                <a:sym typeface="Times New Roman"/>
              </a:rPr>
              <a:t>A batsman has a certain average in his 11 innings. He scored 90 runs in 12</a:t>
            </a:r>
            <a:r>
              <a:rPr lang="en-IN" sz="3200" b="0" i="0" u="none" strike="noStrike" baseline="30000" dirty="0">
                <a:solidFill>
                  <a:srgbClr val="000000"/>
                </a:solidFill>
                <a:latin typeface="Times New Roman"/>
                <a:ea typeface="Times New Roman"/>
                <a:cs typeface="Times New Roman"/>
                <a:sym typeface="Times New Roman"/>
              </a:rPr>
              <a:t>th</a:t>
            </a:r>
            <a:r>
              <a:rPr lang="en-IN" sz="3200" b="0" i="0" u="none" strike="noStrike" dirty="0">
                <a:solidFill>
                  <a:srgbClr val="000000"/>
                </a:solidFill>
                <a:latin typeface="Times New Roman"/>
                <a:ea typeface="Times New Roman"/>
                <a:cs typeface="Times New Roman"/>
                <a:sym typeface="Times New Roman"/>
              </a:rPr>
              <a:t> innings, due to this his average decreased by 5 runs. Find his current average.</a:t>
            </a:r>
            <a:br>
              <a:rPr lang="en-IN" sz="3200" b="0" dirty="0"/>
            </a:br>
            <a:r>
              <a:rPr lang="en-IN" sz="3200" b="0" i="0" u="none" strike="noStrike" dirty="0">
                <a:solidFill>
                  <a:srgbClr val="000000"/>
                </a:solidFill>
                <a:latin typeface="Times New Roman"/>
                <a:ea typeface="Times New Roman"/>
                <a:cs typeface="Times New Roman"/>
                <a:sym typeface="Times New Roman"/>
              </a:rPr>
              <a:t>(a) 150               (b) 145                 (c) 150               (d) 155</a:t>
            </a:r>
            <a:endParaRPr sz="3200" b="1" dirty="0">
              <a:latin typeface="Calibri"/>
              <a:ea typeface="Calibri"/>
              <a:cs typeface="Calibri"/>
              <a:sym typeface="Calibri"/>
            </a:endParaRPr>
          </a:p>
        </p:txBody>
      </p:sp>
      <p:sp>
        <p:nvSpPr>
          <p:cNvPr id="262" name="Google Shape;262;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IN"/>
              <a:t>Galgotias University</a:t>
            </a:r>
            <a:endParaRPr/>
          </a:p>
        </p:txBody>
      </p:sp>
      <p:sp>
        <p:nvSpPr>
          <p:cNvPr id="263" name="Google Shape;263;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IN"/>
              <a:t>17</a:t>
            </a:fld>
            <a:endParaRPr/>
          </a:p>
        </p:txBody>
      </p:sp>
      <p:pic>
        <p:nvPicPr>
          <p:cNvPr id="264" name="Google Shape;264;p17" descr="A blue circle with text and words&#10;&#10;Description automatically generated"/>
          <p:cNvPicPr preferRelativeResize="0"/>
          <p:nvPr/>
        </p:nvPicPr>
        <p:blipFill rotWithShape="1">
          <a:blip r:embed="rId3">
            <a:alphaModFix/>
          </a:blip>
          <a:srcRect/>
          <a:stretch/>
        </p:blipFill>
        <p:spPr>
          <a:xfrm>
            <a:off x="10758566" y="176754"/>
            <a:ext cx="874732" cy="874732"/>
          </a:xfrm>
          <a:prstGeom prst="rect">
            <a:avLst/>
          </a:prstGeom>
          <a:noFill/>
          <a:ln>
            <a:noFill/>
          </a:ln>
        </p:spPr>
      </p:pic>
      <p:pic>
        <p:nvPicPr>
          <p:cNvPr id="265" name="Google Shape;265;p17"/>
          <p:cNvPicPr preferRelativeResize="0"/>
          <p:nvPr/>
        </p:nvPicPr>
        <p:blipFill rotWithShape="1">
          <a:blip r:embed="rId4">
            <a:alphaModFix/>
          </a:blip>
          <a:srcRect/>
          <a:stretch/>
        </p:blipFill>
        <p:spPr>
          <a:xfrm>
            <a:off x="104932" y="114202"/>
            <a:ext cx="3795634" cy="740238"/>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69"/>
        <p:cNvGrpSpPr/>
        <p:nvPr/>
      </p:nvGrpSpPr>
      <p:grpSpPr>
        <a:xfrm>
          <a:off x="0" y="0"/>
          <a:ext cx="0" cy="0"/>
          <a:chOff x="0" y="0"/>
          <a:chExt cx="0" cy="0"/>
        </a:xfrm>
      </p:grpSpPr>
      <p:sp>
        <p:nvSpPr>
          <p:cNvPr id="270" name="Google Shape;270;p1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IN"/>
              <a:t>Galgotias University</a:t>
            </a:r>
            <a:endParaRPr/>
          </a:p>
        </p:txBody>
      </p:sp>
      <p:sp>
        <p:nvSpPr>
          <p:cNvPr id="271" name="Google Shape;271;p1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IN"/>
              <a:t>18</a:t>
            </a:fld>
            <a:endParaRPr/>
          </a:p>
        </p:txBody>
      </p:sp>
      <p:pic>
        <p:nvPicPr>
          <p:cNvPr id="272" name="Google Shape;272;p18" descr="A blue circle with text and words&#10;&#10;Description automatically generated"/>
          <p:cNvPicPr preferRelativeResize="0"/>
          <p:nvPr/>
        </p:nvPicPr>
        <p:blipFill rotWithShape="1">
          <a:blip r:embed="rId3">
            <a:alphaModFix/>
          </a:blip>
          <a:srcRect/>
          <a:stretch/>
        </p:blipFill>
        <p:spPr>
          <a:xfrm>
            <a:off x="10758566" y="176754"/>
            <a:ext cx="874732" cy="874732"/>
          </a:xfrm>
          <a:prstGeom prst="rect">
            <a:avLst/>
          </a:prstGeom>
          <a:noFill/>
          <a:ln>
            <a:noFill/>
          </a:ln>
        </p:spPr>
      </p:pic>
      <p:pic>
        <p:nvPicPr>
          <p:cNvPr id="273" name="Google Shape;273;p18"/>
          <p:cNvPicPr preferRelativeResize="0"/>
          <p:nvPr/>
        </p:nvPicPr>
        <p:blipFill rotWithShape="1">
          <a:blip r:embed="rId4">
            <a:alphaModFix/>
          </a:blip>
          <a:srcRect/>
          <a:stretch/>
        </p:blipFill>
        <p:spPr>
          <a:xfrm>
            <a:off x="104932" y="114202"/>
            <a:ext cx="3795634" cy="740238"/>
          </a:xfrm>
          <a:prstGeom prst="rect">
            <a:avLst/>
          </a:prstGeom>
          <a:noFill/>
          <a:ln>
            <a:noFill/>
          </a:ln>
        </p:spPr>
      </p:pic>
      <p:sp>
        <p:nvSpPr>
          <p:cNvPr id="274" name="Google Shape;274;p18"/>
          <p:cNvSpPr txBox="1">
            <a:spLocks noGrp="1"/>
          </p:cNvSpPr>
          <p:nvPr>
            <p:ph type="body" idx="1"/>
          </p:nvPr>
        </p:nvSpPr>
        <p:spPr>
          <a:xfrm>
            <a:off x="191911" y="824948"/>
            <a:ext cx="11682207" cy="5208104"/>
          </a:xfrm>
          <a:prstGeom prst="rect">
            <a:avLst/>
          </a:prstGeom>
          <a:noFill/>
          <a:ln>
            <a:noFill/>
          </a:ln>
        </p:spPr>
        <p:txBody>
          <a:bodyPr spcFirstLastPara="1" wrap="square" lIns="91425" tIns="45700" rIns="91425" bIns="45700" anchor="t" anchorCtr="0">
            <a:noAutofit/>
          </a:bodyPr>
          <a:lstStyle/>
          <a:p>
            <a:pPr marL="114300" lvl="0" indent="0" algn="l" rtl="0">
              <a:lnSpc>
                <a:spcPct val="90000"/>
              </a:lnSpc>
              <a:spcBef>
                <a:spcPts val="1000"/>
              </a:spcBef>
              <a:spcAft>
                <a:spcPts val="0"/>
              </a:spcAft>
              <a:buSzPts val="1800"/>
              <a:buNone/>
            </a:pPr>
            <a:r>
              <a:rPr lang="en-IN" sz="4000" b="1" dirty="0">
                <a:latin typeface="Times New Roman"/>
                <a:ea typeface="Times New Roman"/>
                <a:cs typeface="Times New Roman"/>
                <a:sym typeface="Times New Roman"/>
              </a:rPr>
              <a:t>Q11. </a:t>
            </a:r>
            <a:r>
              <a:rPr lang="en-IN" sz="3200" b="0" i="0" u="none" strike="noStrike" dirty="0">
                <a:solidFill>
                  <a:srgbClr val="000000"/>
                </a:solidFill>
                <a:latin typeface="Times New Roman"/>
                <a:ea typeface="Times New Roman"/>
                <a:cs typeface="Times New Roman"/>
                <a:sym typeface="Times New Roman"/>
              </a:rPr>
              <a:t>If the bowling average of a bowler is 12.4 runs per wicket. He took 10 wickets in his next innings by giving 52 runs; due to this his bowling average improved by 0.4 run per wicket. Find the total number of wickets taken by him at present?</a:t>
            </a:r>
            <a:endParaRPr sz="3200" b="0" dirty="0"/>
          </a:p>
          <a:p>
            <a:pPr marL="114300" lvl="0" indent="0" algn="l" rtl="0">
              <a:lnSpc>
                <a:spcPct val="90000"/>
              </a:lnSpc>
              <a:spcBef>
                <a:spcPts val="1800"/>
              </a:spcBef>
              <a:spcAft>
                <a:spcPts val="0"/>
              </a:spcAft>
              <a:buClr>
                <a:schemeClr val="dk1"/>
              </a:buClr>
              <a:buSzPts val="1800"/>
              <a:buNone/>
            </a:pPr>
            <a:r>
              <a:rPr lang="en-IN" sz="3200" b="0" i="0" u="none" strike="noStrike" dirty="0">
                <a:solidFill>
                  <a:srgbClr val="000000"/>
                </a:solidFill>
                <a:latin typeface="Times New Roman"/>
                <a:ea typeface="Times New Roman"/>
                <a:cs typeface="Times New Roman"/>
                <a:sym typeface="Times New Roman"/>
              </a:rPr>
              <a:t>(a) 170                   (b) 180           (c) 190                (d) 200</a:t>
            </a:r>
            <a:endParaRPr sz="3200" b="1" dirty="0">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78"/>
        <p:cNvGrpSpPr/>
        <p:nvPr/>
      </p:nvGrpSpPr>
      <p:grpSpPr>
        <a:xfrm>
          <a:off x="0" y="0"/>
          <a:ext cx="0" cy="0"/>
          <a:chOff x="0" y="0"/>
          <a:chExt cx="0" cy="0"/>
        </a:xfrm>
      </p:grpSpPr>
      <p:sp>
        <p:nvSpPr>
          <p:cNvPr id="279" name="Google Shape;279;p1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IN"/>
              <a:t>Galgotias University</a:t>
            </a:r>
            <a:endParaRPr/>
          </a:p>
        </p:txBody>
      </p:sp>
      <p:sp>
        <p:nvSpPr>
          <p:cNvPr id="280" name="Google Shape;280;p1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IN"/>
              <a:t>19</a:t>
            </a:fld>
            <a:endParaRPr/>
          </a:p>
        </p:txBody>
      </p:sp>
      <p:pic>
        <p:nvPicPr>
          <p:cNvPr id="281" name="Google Shape;281;p19" descr="A blue circle with text and words&#10;&#10;Description automatically generated"/>
          <p:cNvPicPr preferRelativeResize="0"/>
          <p:nvPr/>
        </p:nvPicPr>
        <p:blipFill rotWithShape="1">
          <a:blip r:embed="rId3">
            <a:alphaModFix/>
          </a:blip>
          <a:srcRect/>
          <a:stretch/>
        </p:blipFill>
        <p:spPr>
          <a:xfrm>
            <a:off x="10758566" y="176754"/>
            <a:ext cx="874732" cy="874732"/>
          </a:xfrm>
          <a:prstGeom prst="rect">
            <a:avLst/>
          </a:prstGeom>
          <a:noFill/>
          <a:ln>
            <a:noFill/>
          </a:ln>
        </p:spPr>
      </p:pic>
      <p:pic>
        <p:nvPicPr>
          <p:cNvPr id="282" name="Google Shape;282;p19"/>
          <p:cNvPicPr preferRelativeResize="0"/>
          <p:nvPr/>
        </p:nvPicPr>
        <p:blipFill rotWithShape="1">
          <a:blip r:embed="rId4">
            <a:alphaModFix/>
          </a:blip>
          <a:srcRect/>
          <a:stretch/>
        </p:blipFill>
        <p:spPr>
          <a:xfrm>
            <a:off x="104932" y="114202"/>
            <a:ext cx="3795634" cy="740238"/>
          </a:xfrm>
          <a:prstGeom prst="rect">
            <a:avLst/>
          </a:prstGeom>
          <a:noFill/>
          <a:ln>
            <a:noFill/>
          </a:ln>
        </p:spPr>
      </p:pic>
      <p:sp>
        <p:nvSpPr>
          <p:cNvPr id="283" name="Google Shape;283;p19"/>
          <p:cNvSpPr txBox="1">
            <a:spLocks noGrp="1"/>
          </p:cNvSpPr>
          <p:nvPr>
            <p:ph type="body" idx="1"/>
          </p:nvPr>
        </p:nvSpPr>
        <p:spPr>
          <a:xfrm>
            <a:off x="104932" y="854441"/>
            <a:ext cx="11528366" cy="3311160"/>
          </a:xfrm>
          <a:prstGeom prst="rect">
            <a:avLst/>
          </a:prstGeom>
          <a:noFill/>
          <a:ln>
            <a:noFill/>
          </a:ln>
        </p:spPr>
        <p:txBody>
          <a:bodyPr spcFirstLastPara="1" wrap="square" lIns="91425" tIns="45700" rIns="91425" bIns="45700" anchor="t" anchorCtr="0">
            <a:normAutofit/>
          </a:bodyPr>
          <a:lstStyle/>
          <a:p>
            <a:pPr marL="114300" lvl="0" indent="0" algn="l" rtl="0">
              <a:lnSpc>
                <a:spcPct val="90000"/>
              </a:lnSpc>
              <a:spcBef>
                <a:spcPts val="1000"/>
              </a:spcBef>
              <a:spcAft>
                <a:spcPts val="0"/>
              </a:spcAft>
              <a:buSzPts val="1800"/>
              <a:buNone/>
            </a:pPr>
            <a:r>
              <a:rPr lang="en-IN" sz="4000" b="1" dirty="0">
                <a:latin typeface="Times New Roman"/>
                <a:ea typeface="Times New Roman"/>
                <a:cs typeface="Times New Roman"/>
                <a:sym typeface="Times New Roman"/>
              </a:rPr>
              <a:t>Q12. </a:t>
            </a:r>
            <a:r>
              <a:rPr lang="en-IN" sz="3200" b="0" i="0" u="none" strike="noStrike" dirty="0">
                <a:solidFill>
                  <a:srgbClr val="000000"/>
                </a:solidFill>
                <a:latin typeface="Times New Roman"/>
                <a:ea typeface="Times New Roman"/>
                <a:cs typeface="Times New Roman"/>
                <a:sym typeface="Times New Roman"/>
              </a:rPr>
              <a:t>The average age of a cricket team of 11 players is the same as it was 3 years back because three of the players whose current average age of 33 years are replaced by youngsters. The average age of the newcomers is?</a:t>
            </a:r>
            <a:endParaRPr sz="3200" b="0" dirty="0"/>
          </a:p>
          <a:p>
            <a:pPr marL="114300" lvl="0" indent="0" algn="l" rtl="0">
              <a:lnSpc>
                <a:spcPct val="90000"/>
              </a:lnSpc>
              <a:spcBef>
                <a:spcPts val="1800"/>
              </a:spcBef>
              <a:spcAft>
                <a:spcPts val="0"/>
              </a:spcAft>
              <a:buClr>
                <a:schemeClr val="dk1"/>
              </a:buClr>
              <a:buSzPts val="1800"/>
              <a:buNone/>
            </a:pPr>
            <a:r>
              <a:rPr lang="en-IN" sz="3200" b="0" i="0" u="none" strike="noStrike" dirty="0">
                <a:solidFill>
                  <a:srgbClr val="000000"/>
                </a:solidFill>
                <a:latin typeface="Times New Roman"/>
                <a:ea typeface="Times New Roman"/>
                <a:cs typeface="Times New Roman"/>
                <a:sym typeface="Times New Roman"/>
              </a:rPr>
              <a:t>(a) 22            (b) 24              (c) 26                       (d) 28</a:t>
            </a:r>
            <a:endParaRPr sz="3200" b="1" dirty="0">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87"/>
        <p:cNvGrpSpPr/>
        <p:nvPr/>
      </p:nvGrpSpPr>
      <p:grpSpPr>
        <a:xfrm>
          <a:off x="0" y="0"/>
          <a:ext cx="0" cy="0"/>
          <a:chOff x="0" y="0"/>
          <a:chExt cx="0" cy="0"/>
        </a:xfrm>
      </p:grpSpPr>
      <p:sp>
        <p:nvSpPr>
          <p:cNvPr id="288" name="Google Shape;288;p2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IN"/>
              <a:t>Galgotias University</a:t>
            </a:r>
            <a:endParaRPr/>
          </a:p>
        </p:txBody>
      </p:sp>
      <p:sp>
        <p:nvSpPr>
          <p:cNvPr id="289" name="Google Shape;289;p2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IN"/>
              <a:t>20</a:t>
            </a:fld>
            <a:endParaRPr/>
          </a:p>
        </p:txBody>
      </p:sp>
      <p:pic>
        <p:nvPicPr>
          <p:cNvPr id="290" name="Google Shape;290;p20" descr="A blue circle with text and words&#10;&#10;Description automatically generated"/>
          <p:cNvPicPr preferRelativeResize="0"/>
          <p:nvPr/>
        </p:nvPicPr>
        <p:blipFill rotWithShape="1">
          <a:blip r:embed="rId3">
            <a:alphaModFix/>
          </a:blip>
          <a:srcRect/>
          <a:stretch/>
        </p:blipFill>
        <p:spPr>
          <a:xfrm>
            <a:off x="10758566" y="176754"/>
            <a:ext cx="874732" cy="874732"/>
          </a:xfrm>
          <a:prstGeom prst="rect">
            <a:avLst/>
          </a:prstGeom>
          <a:noFill/>
          <a:ln>
            <a:noFill/>
          </a:ln>
        </p:spPr>
      </p:pic>
      <p:pic>
        <p:nvPicPr>
          <p:cNvPr id="291" name="Google Shape;291;p20"/>
          <p:cNvPicPr preferRelativeResize="0"/>
          <p:nvPr/>
        </p:nvPicPr>
        <p:blipFill rotWithShape="1">
          <a:blip r:embed="rId4">
            <a:alphaModFix/>
          </a:blip>
          <a:srcRect/>
          <a:stretch/>
        </p:blipFill>
        <p:spPr>
          <a:xfrm>
            <a:off x="104932" y="114202"/>
            <a:ext cx="3795634" cy="740238"/>
          </a:xfrm>
          <a:prstGeom prst="rect">
            <a:avLst/>
          </a:prstGeom>
          <a:noFill/>
          <a:ln>
            <a:noFill/>
          </a:ln>
        </p:spPr>
      </p:pic>
      <p:sp>
        <p:nvSpPr>
          <p:cNvPr id="292" name="Google Shape;292;p20"/>
          <p:cNvSpPr txBox="1">
            <a:spLocks noGrp="1"/>
          </p:cNvSpPr>
          <p:nvPr>
            <p:ph type="body" idx="1"/>
          </p:nvPr>
        </p:nvSpPr>
        <p:spPr>
          <a:xfrm>
            <a:off x="191911" y="1051486"/>
            <a:ext cx="11441387" cy="3531803"/>
          </a:xfrm>
          <a:prstGeom prst="rect">
            <a:avLst/>
          </a:prstGeom>
          <a:noFill/>
          <a:ln>
            <a:noFill/>
          </a:ln>
        </p:spPr>
        <p:txBody>
          <a:bodyPr spcFirstLastPara="1" wrap="square" lIns="91425" tIns="45700" rIns="91425" bIns="45700" anchor="t" anchorCtr="0">
            <a:normAutofit/>
          </a:bodyPr>
          <a:lstStyle/>
          <a:p>
            <a:pPr marL="114300" lvl="0" indent="0" algn="l" rtl="0">
              <a:lnSpc>
                <a:spcPct val="90000"/>
              </a:lnSpc>
              <a:spcBef>
                <a:spcPts val="1000"/>
              </a:spcBef>
              <a:spcAft>
                <a:spcPts val="0"/>
              </a:spcAft>
              <a:buSzPts val="1800"/>
              <a:buNone/>
            </a:pPr>
            <a:r>
              <a:rPr lang="en-IN" sz="4000" b="1" dirty="0">
                <a:latin typeface="Times New Roman"/>
                <a:ea typeface="Times New Roman"/>
                <a:cs typeface="Times New Roman"/>
                <a:sym typeface="Times New Roman"/>
              </a:rPr>
              <a:t>Q13. </a:t>
            </a:r>
            <a:r>
              <a:rPr lang="en-IN" sz="3200" b="0" i="0" u="none" strike="noStrike" dirty="0">
                <a:solidFill>
                  <a:srgbClr val="000000"/>
                </a:solidFill>
                <a:latin typeface="Times New Roman"/>
                <a:ea typeface="Times New Roman"/>
                <a:cs typeface="Times New Roman"/>
                <a:sym typeface="Times New Roman"/>
              </a:rPr>
              <a:t>The average weight of girls is 15 and the average weight of boys is 30 and the average weight of boys and girls both is 25. If the number of boys is 12, then the number of girls is?</a:t>
            </a:r>
            <a:endParaRPr sz="3200" b="0" dirty="0"/>
          </a:p>
          <a:p>
            <a:pPr marL="114300" lvl="0" indent="0" algn="l" rtl="0">
              <a:lnSpc>
                <a:spcPct val="90000"/>
              </a:lnSpc>
              <a:spcBef>
                <a:spcPts val="1800"/>
              </a:spcBef>
              <a:spcAft>
                <a:spcPts val="0"/>
              </a:spcAft>
              <a:buClr>
                <a:schemeClr val="dk1"/>
              </a:buClr>
              <a:buSzPts val="1800"/>
              <a:buNone/>
            </a:pPr>
            <a:r>
              <a:rPr lang="en-IN" sz="3200" b="0" i="0" u="none" strike="noStrike" dirty="0">
                <a:solidFill>
                  <a:srgbClr val="000000"/>
                </a:solidFill>
                <a:latin typeface="Times New Roman"/>
                <a:ea typeface="Times New Roman"/>
                <a:cs typeface="Times New Roman"/>
                <a:sym typeface="Times New Roman"/>
              </a:rPr>
              <a:t>(a) 4                     (b) 6                   (c) 10                   (d) 18</a:t>
            </a:r>
            <a:endParaRPr sz="3200" b="1" dirty="0">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96"/>
        <p:cNvGrpSpPr/>
        <p:nvPr/>
      </p:nvGrpSpPr>
      <p:grpSpPr>
        <a:xfrm>
          <a:off x="0" y="0"/>
          <a:ext cx="0" cy="0"/>
          <a:chOff x="0" y="0"/>
          <a:chExt cx="0" cy="0"/>
        </a:xfrm>
      </p:grpSpPr>
      <p:sp>
        <p:nvSpPr>
          <p:cNvPr id="297" name="Google Shape;297;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IN"/>
              <a:t>Galgotias University</a:t>
            </a:r>
            <a:endParaRPr/>
          </a:p>
        </p:txBody>
      </p:sp>
      <p:sp>
        <p:nvSpPr>
          <p:cNvPr id="298" name="Google Shape;298;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IN"/>
              <a:t>21</a:t>
            </a:fld>
            <a:endParaRPr/>
          </a:p>
        </p:txBody>
      </p:sp>
      <p:pic>
        <p:nvPicPr>
          <p:cNvPr id="299" name="Google Shape;299;p21" descr="A blue circle with text and words&#10;&#10;Description automatically generated"/>
          <p:cNvPicPr preferRelativeResize="0"/>
          <p:nvPr/>
        </p:nvPicPr>
        <p:blipFill rotWithShape="1">
          <a:blip r:embed="rId3">
            <a:alphaModFix/>
          </a:blip>
          <a:srcRect/>
          <a:stretch/>
        </p:blipFill>
        <p:spPr>
          <a:xfrm>
            <a:off x="10758566" y="176754"/>
            <a:ext cx="874732" cy="874732"/>
          </a:xfrm>
          <a:prstGeom prst="rect">
            <a:avLst/>
          </a:prstGeom>
          <a:noFill/>
          <a:ln>
            <a:noFill/>
          </a:ln>
        </p:spPr>
      </p:pic>
      <p:pic>
        <p:nvPicPr>
          <p:cNvPr id="300" name="Google Shape;300;p21"/>
          <p:cNvPicPr preferRelativeResize="0"/>
          <p:nvPr/>
        </p:nvPicPr>
        <p:blipFill rotWithShape="1">
          <a:blip r:embed="rId4">
            <a:alphaModFix/>
          </a:blip>
          <a:srcRect/>
          <a:stretch/>
        </p:blipFill>
        <p:spPr>
          <a:xfrm>
            <a:off x="104932" y="114202"/>
            <a:ext cx="3795634" cy="740238"/>
          </a:xfrm>
          <a:prstGeom prst="rect">
            <a:avLst/>
          </a:prstGeom>
          <a:noFill/>
          <a:ln>
            <a:noFill/>
          </a:ln>
        </p:spPr>
      </p:pic>
      <p:sp>
        <p:nvSpPr>
          <p:cNvPr id="301" name="Google Shape;301;p21"/>
          <p:cNvSpPr txBox="1">
            <a:spLocks noGrp="1"/>
          </p:cNvSpPr>
          <p:nvPr>
            <p:ph type="body" idx="1"/>
          </p:nvPr>
        </p:nvSpPr>
        <p:spPr>
          <a:xfrm>
            <a:off x="104933" y="854440"/>
            <a:ext cx="11528366" cy="5501910"/>
          </a:xfrm>
          <a:prstGeom prst="rect">
            <a:avLst/>
          </a:prstGeom>
          <a:noFill/>
          <a:ln>
            <a:noFill/>
          </a:ln>
        </p:spPr>
        <p:txBody>
          <a:bodyPr spcFirstLastPara="1" wrap="square" lIns="91425" tIns="45700" rIns="91425" bIns="45700" anchor="t" anchorCtr="0">
            <a:normAutofit/>
          </a:bodyPr>
          <a:lstStyle/>
          <a:p>
            <a:pPr marL="114300" lvl="0" indent="0" algn="l" rtl="0">
              <a:lnSpc>
                <a:spcPct val="90000"/>
              </a:lnSpc>
              <a:spcBef>
                <a:spcPts val="1000"/>
              </a:spcBef>
              <a:spcAft>
                <a:spcPts val="0"/>
              </a:spcAft>
              <a:buSzPts val="1800"/>
              <a:buNone/>
            </a:pPr>
            <a:r>
              <a:rPr lang="en-IN" sz="4000" b="1" dirty="0">
                <a:latin typeface="Times New Roman"/>
                <a:ea typeface="Times New Roman"/>
                <a:cs typeface="Times New Roman"/>
                <a:sym typeface="Times New Roman"/>
              </a:rPr>
              <a:t>Q14. </a:t>
            </a:r>
            <a:r>
              <a:rPr lang="en-IN" sz="3200" b="0" i="0" u="none" strike="noStrike" dirty="0">
                <a:solidFill>
                  <a:srgbClr val="000000"/>
                </a:solidFill>
                <a:latin typeface="Times New Roman"/>
                <a:ea typeface="Times New Roman"/>
                <a:cs typeface="Times New Roman"/>
                <a:sym typeface="Times New Roman"/>
              </a:rPr>
              <a:t>The ratio of the number of girls to the number of boys is 1:2. If the average weight of the boys is 30 kg and the average weight of both the boys and the girls is 25 kg, then the average weight of the girls is?</a:t>
            </a:r>
            <a:endParaRPr sz="3200" b="0" dirty="0"/>
          </a:p>
          <a:p>
            <a:pPr marL="114300" lvl="0" indent="0" algn="l" rtl="0">
              <a:lnSpc>
                <a:spcPct val="90000"/>
              </a:lnSpc>
              <a:spcBef>
                <a:spcPts val="1800"/>
              </a:spcBef>
              <a:spcAft>
                <a:spcPts val="0"/>
              </a:spcAft>
              <a:buClr>
                <a:schemeClr val="dk1"/>
              </a:buClr>
              <a:buSzPts val="1800"/>
              <a:buNone/>
            </a:pPr>
            <a:r>
              <a:rPr lang="en-IN" sz="3200" b="0" i="0" u="none" strike="noStrike" dirty="0">
                <a:solidFill>
                  <a:srgbClr val="000000"/>
                </a:solidFill>
                <a:latin typeface="Times New Roman"/>
                <a:ea typeface="Times New Roman"/>
                <a:cs typeface="Times New Roman"/>
                <a:sym typeface="Times New Roman"/>
              </a:rPr>
              <a:t>(a) 20               (b) 16                    (c) 15                   (d) 30</a:t>
            </a:r>
            <a:endParaRPr sz="3200" b="1" dirty="0">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05"/>
        <p:cNvGrpSpPr/>
        <p:nvPr/>
      </p:nvGrpSpPr>
      <p:grpSpPr>
        <a:xfrm>
          <a:off x="0" y="0"/>
          <a:ext cx="0" cy="0"/>
          <a:chOff x="0" y="0"/>
          <a:chExt cx="0" cy="0"/>
        </a:xfrm>
      </p:grpSpPr>
      <p:sp>
        <p:nvSpPr>
          <p:cNvPr id="306" name="Google Shape;306;p2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IN"/>
              <a:t>Galgotias University</a:t>
            </a:r>
            <a:endParaRPr/>
          </a:p>
        </p:txBody>
      </p:sp>
      <p:sp>
        <p:nvSpPr>
          <p:cNvPr id="307" name="Google Shape;307;p2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IN"/>
              <a:t>22</a:t>
            </a:fld>
            <a:endParaRPr/>
          </a:p>
        </p:txBody>
      </p:sp>
      <p:pic>
        <p:nvPicPr>
          <p:cNvPr id="308" name="Google Shape;308;p22" descr="A blue circle with text and words&#10;&#10;Description automatically generated"/>
          <p:cNvPicPr preferRelativeResize="0"/>
          <p:nvPr/>
        </p:nvPicPr>
        <p:blipFill rotWithShape="1">
          <a:blip r:embed="rId3">
            <a:alphaModFix/>
          </a:blip>
          <a:srcRect/>
          <a:stretch/>
        </p:blipFill>
        <p:spPr>
          <a:xfrm>
            <a:off x="10758566" y="176754"/>
            <a:ext cx="874732" cy="874732"/>
          </a:xfrm>
          <a:prstGeom prst="rect">
            <a:avLst/>
          </a:prstGeom>
          <a:noFill/>
          <a:ln>
            <a:noFill/>
          </a:ln>
        </p:spPr>
      </p:pic>
      <p:pic>
        <p:nvPicPr>
          <p:cNvPr id="309" name="Google Shape;309;p22"/>
          <p:cNvPicPr preferRelativeResize="0"/>
          <p:nvPr/>
        </p:nvPicPr>
        <p:blipFill rotWithShape="1">
          <a:blip r:embed="rId4">
            <a:alphaModFix/>
          </a:blip>
          <a:srcRect/>
          <a:stretch/>
        </p:blipFill>
        <p:spPr>
          <a:xfrm>
            <a:off x="104932" y="114202"/>
            <a:ext cx="3795634" cy="740238"/>
          </a:xfrm>
          <a:prstGeom prst="rect">
            <a:avLst/>
          </a:prstGeom>
          <a:noFill/>
          <a:ln>
            <a:noFill/>
          </a:ln>
        </p:spPr>
      </p:pic>
      <p:sp>
        <p:nvSpPr>
          <p:cNvPr id="310" name="Google Shape;310;p22"/>
          <p:cNvSpPr txBox="1">
            <a:spLocks noGrp="1"/>
          </p:cNvSpPr>
          <p:nvPr>
            <p:ph type="body" idx="1"/>
          </p:nvPr>
        </p:nvSpPr>
        <p:spPr>
          <a:xfrm>
            <a:off x="104932" y="1096551"/>
            <a:ext cx="11792542" cy="5499458"/>
          </a:xfrm>
          <a:prstGeom prst="rect">
            <a:avLst/>
          </a:prstGeom>
          <a:noFill/>
          <a:ln>
            <a:noFill/>
          </a:ln>
        </p:spPr>
        <p:txBody>
          <a:bodyPr spcFirstLastPara="1" wrap="square" lIns="91425" tIns="45700" rIns="91425" bIns="45700" anchor="t" anchorCtr="0">
            <a:noAutofit/>
          </a:bodyPr>
          <a:lstStyle/>
          <a:p>
            <a:pPr marL="114300" lvl="0" indent="0" algn="l" rtl="0">
              <a:lnSpc>
                <a:spcPct val="90000"/>
              </a:lnSpc>
              <a:spcBef>
                <a:spcPts val="1000"/>
              </a:spcBef>
              <a:spcAft>
                <a:spcPts val="0"/>
              </a:spcAft>
              <a:buSzPts val="1800"/>
              <a:buNone/>
            </a:pPr>
            <a:r>
              <a:rPr lang="en-IN" sz="4000" b="1" dirty="0">
                <a:latin typeface="Times New Roman"/>
                <a:ea typeface="Times New Roman"/>
                <a:cs typeface="Times New Roman"/>
                <a:sym typeface="Times New Roman"/>
              </a:rPr>
              <a:t>Q15</a:t>
            </a:r>
            <a:r>
              <a:rPr lang="en-IN" sz="3200" b="1" dirty="0">
                <a:latin typeface="Times New Roman"/>
                <a:ea typeface="Times New Roman"/>
                <a:cs typeface="Times New Roman"/>
                <a:sym typeface="Times New Roman"/>
              </a:rPr>
              <a:t>. </a:t>
            </a:r>
            <a:r>
              <a:rPr lang="en-IN" sz="3200" b="0" i="0" u="none" strike="noStrike" dirty="0">
                <a:solidFill>
                  <a:srgbClr val="000000"/>
                </a:solidFill>
                <a:latin typeface="Times New Roman"/>
                <a:ea typeface="Times New Roman"/>
                <a:cs typeface="Times New Roman"/>
                <a:sym typeface="Times New Roman"/>
              </a:rPr>
              <a:t>Two varieties of milk with different prices are mixed in the ratio of 2:3. The price of the first type of milk is Rs. 10 per litre while the price of the second type of milk is Rs 15 per litre, respectively. The average price of the mixture (per litre) is?</a:t>
            </a:r>
            <a:endParaRPr sz="3200" b="0" dirty="0"/>
          </a:p>
          <a:p>
            <a:pPr marL="114300" lvl="0" indent="0" algn="l" rtl="0">
              <a:lnSpc>
                <a:spcPct val="90000"/>
              </a:lnSpc>
              <a:spcBef>
                <a:spcPts val="1800"/>
              </a:spcBef>
              <a:spcAft>
                <a:spcPts val="0"/>
              </a:spcAft>
              <a:buClr>
                <a:schemeClr val="dk1"/>
              </a:buClr>
              <a:buSzPts val="1800"/>
              <a:buNone/>
            </a:pPr>
            <a:r>
              <a:rPr lang="en-IN" sz="3200" b="0" i="0" u="none" strike="noStrike" dirty="0">
                <a:solidFill>
                  <a:srgbClr val="000000"/>
                </a:solidFill>
                <a:latin typeface="Times New Roman"/>
                <a:ea typeface="Times New Roman"/>
                <a:cs typeface="Times New Roman"/>
                <a:sym typeface="Times New Roman"/>
              </a:rPr>
              <a:t>(a) 12                (b) 13                     (c) 14                 (d) 15</a:t>
            </a:r>
            <a:endParaRPr sz="3200" b="1" dirty="0">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14"/>
        <p:cNvGrpSpPr/>
        <p:nvPr/>
      </p:nvGrpSpPr>
      <p:grpSpPr>
        <a:xfrm>
          <a:off x="0" y="0"/>
          <a:ext cx="0" cy="0"/>
          <a:chOff x="0" y="0"/>
          <a:chExt cx="0" cy="0"/>
        </a:xfrm>
      </p:grpSpPr>
      <p:sp>
        <p:nvSpPr>
          <p:cNvPr id="315" name="Google Shape;315;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IN"/>
              <a:t>Galgotias University</a:t>
            </a:r>
            <a:endParaRPr/>
          </a:p>
        </p:txBody>
      </p:sp>
      <p:sp>
        <p:nvSpPr>
          <p:cNvPr id="316" name="Google Shape;316;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IN"/>
              <a:t>23</a:t>
            </a:fld>
            <a:endParaRPr/>
          </a:p>
        </p:txBody>
      </p:sp>
      <p:pic>
        <p:nvPicPr>
          <p:cNvPr id="317" name="Google Shape;317;p23" descr="A blue circle with text and words&#10;&#10;Description automatically generated"/>
          <p:cNvPicPr preferRelativeResize="0"/>
          <p:nvPr/>
        </p:nvPicPr>
        <p:blipFill rotWithShape="1">
          <a:blip r:embed="rId3">
            <a:alphaModFix/>
          </a:blip>
          <a:srcRect/>
          <a:stretch/>
        </p:blipFill>
        <p:spPr>
          <a:xfrm>
            <a:off x="10758566" y="176754"/>
            <a:ext cx="874732" cy="874732"/>
          </a:xfrm>
          <a:prstGeom prst="rect">
            <a:avLst/>
          </a:prstGeom>
          <a:noFill/>
          <a:ln>
            <a:noFill/>
          </a:ln>
        </p:spPr>
      </p:pic>
      <p:pic>
        <p:nvPicPr>
          <p:cNvPr id="318" name="Google Shape;318;p23"/>
          <p:cNvPicPr preferRelativeResize="0"/>
          <p:nvPr/>
        </p:nvPicPr>
        <p:blipFill rotWithShape="1">
          <a:blip r:embed="rId4">
            <a:alphaModFix/>
          </a:blip>
          <a:srcRect/>
          <a:stretch/>
        </p:blipFill>
        <p:spPr>
          <a:xfrm>
            <a:off x="104932" y="114202"/>
            <a:ext cx="3795634" cy="740238"/>
          </a:xfrm>
          <a:prstGeom prst="rect">
            <a:avLst/>
          </a:prstGeom>
          <a:noFill/>
          <a:ln>
            <a:noFill/>
          </a:ln>
        </p:spPr>
      </p:pic>
      <p:sp>
        <p:nvSpPr>
          <p:cNvPr id="319" name="Google Shape;319;p23"/>
          <p:cNvSpPr txBox="1">
            <a:spLocks noGrp="1"/>
          </p:cNvSpPr>
          <p:nvPr>
            <p:ph type="body" idx="1"/>
          </p:nvPr>
        </p:nvSpPr>
        <p:spPr>
          <a:xfrm>
            <a:off x="104933" y="854440"/>
            <a:ext cx="11607606" cy="5501910"/>
          </a:xfrm>
          <a:prstGeom prst="rect">
            <a:avLst/>
          </a:prstGeom>
          <a:noFill/>
          <a:ln>
            <a:noFill/>
          </a:ln>
        </p:spPr>
        <p:txBody>
          <a:bodyPr spcFirstLastPara="1" wrap="square" lIns="91425" tIns="45700" rIns="91425" bIns="45700" anchor="t" anchorCtr="0">
            <a:normAutofit/>
          </a:bodyPr>
          <a:lstStyle/>
          <a:p>
            <a:pPr marL="114300" lvl="0" indent="0" algn="l" rtl="0">
              <a:lnSpc>
                <a:spcPct val="90000"/>
              </a:lnSpc>
              <a:spcBef>
                <a:spcPts val="1000"/>
              </a:spcBef>
              <a:spcAft>
                <a:spcPts val="0"/>
              </a:spcAft>
              <a:buSzPts val="1800"/>
              <a:buNone/>
            </a:pPr>
            <a:r>
              <a:rPr lang="en-IN" sz="4000" b="1" dirty="0">
                <a:latin typeface="Times New Roman"/>
                <a:ea typeface="Times New Roman"/>
                <a:cs typeface="Times New Roman"/>
                <a:sym typeface="Times New Roman"/>
              </a:rPr>
              <a:t>Q16</a:t>
            </a:r>
            <a:r>
              <a:rPr lang="en-IN" sz="3200" b="1" dirty="0">
                <a:latin typeface="Times New Roman"/>
                <a:ea typeface="Times New Roman"/>
                <a:cs typeface="Times New Roman"/>
                <a:sym typeface="Times New Roman"/>
              </a:rPr>
              <a:t>. </a:t>
            </a:r>
            <a:r>
              <a:rPr lang="en-IN" sz="3200" b="0" i="0" u="none" strike="noStrike" dirty="0">
                <a:solidFill>
                  <a:srgbClr val="000000"/>
                </a:solidFill>
                <a:latin typeface="Times New Roman"/>
                <a:ea typeface="Times New Roman"/>
                <a:cs typeface="Times New Roman"/>
                <a:sym typeface="Times New Roman"/>
              </a:rPr>
              <a:t>5 kg of superior quality of rice is mixed with 25 kg of inferior quality rice. The rice of superior quality and inferior quality rice is Rs 18 and Rs 12 respectively. The average price per kg of the mixture is?</a:t>
            </a:r>
            <a:endParaRPr sz="3200" b="0" dirty="0"/>
          </a:p>
          <a:p>
            <a:pPr marL="114300" lvl="0" indent="0" algn="l" rtl="0">
              <a:lnSpc>
                <a:spcPct val="90000"/>
              </a:lnSpc>
              <a:spcBef>
                <a:spcPts val="1800"/>
              </a:spcBef>
              <a:spcAft>
                <a:spcPts val="0"/>
              </a:spcAft>
              <a:buClr>
                <a:schemeClr val="dk1"/>
              </a:buClr>
              <a:buSzPts val="1800"/>
              <a:buNone/>
            </a:pPr>
            <a:r>
              <a:rPr lang="en-IN" sz="3200" b="0" i="0" u="none" strike="noStrike" dirty="0">
                <a:solidFill>
                  <a:srgbClr val="000000"/>
                </a:solidFill>
                <a:latin typeface="Times New Roman"/>
                <a:ea typeface="Times New Roman"/>
                <a:cs typeface="Times New Roman"/>
                <a:sym typeface="Times New Roman"/>
              </a:rPr>
              <a:t>(a) 13                (b) 15                     (c) 18                      (d) 21</a:t>
            </a:r>
            <a:endParaRPr sz="3200" b="1" dirty="0">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23"/>
        <p:cNvGrpSpPr/>
        <p:nvPr/>
      </p:nvGrpSpPr>
      <p:grpSpPr>
        <a:xfrm>
          <a:off x="0" y="0"/>
          <a:ext cx="0" cy="0"/>
          <a:chOff x="0" y="0"/>
          <a:chExt cx="0" cy="0"/>
        </a:xfrm>
      </p:grpSpPr>
      <p:sp>
        <p:nvSpPr>
          <p:cNvPr id="324" name="Google Shape;324;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IN"/>
              <a:t>Galgotias University</a:t>
            </a:r>
            <a:endParaRPr/>
          </a:p>
        </p:txBody>
      </p:sp>
      <p:sp>
        <p:nvSpPr>
          <p:cNvPr id="325" name="Google Shape;325;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IN"/>
              <a:t>24</a:t>
            </a:fld>
            <a:endParaRPr/>
          </a:p>
        </p:txBody>
      </p:sp>
      <p:pic>
        <p:nvPicPr>
          <p:cNvPr id="326" name="Google Shape;326;p24" descr="A blue circle with text and words&#10;&#10;Description automatically generated"/>
          <p:cNvPicPr preferRelativeResize="0"/>
          <p:nvPr/>
        </p:nvPicPr>
        <p:blipFill rotWithShape="1">
          <a:blip r:embed="rId3">
            <a:alphaModFix/>
          </a:blip>
          <a:srcRect/>
          <a:stretch/>
        </p:blipFill>
        <p:spPr>
          <a:xfrm>
            <a:off x="10758566" y="176754"/>
            <a:ext cx="874732" cy="874732"/>
          </a:xfrm>
          <a:prstGeom prst="rect">
            <a:avLst/>
          </a:prstGeom>
          <a:noFill/>
          <a:ln>
            <a:noFill/>
          </a:ln>
        </p:spPr>
      </p:pic>
      <p:pic>
        <p:nvPicPr>
          <p:cNvPr id="327" name="Google Shape;327;p24"/>
          <p:cNvPicPr preferRelativeResize="0"/>
          <p:nvPr/>
        </p:nvPicPr>
        <p:blipFill rotWithShape="1">
          <a:blip r:embed="rId4">
            <a:alphaModFix/>
          </a:blip>
          <a:srcRect/>
          <a:stretch/>
        </p:blipFill>
        <p:spPr>
          <a:xfrm>
            <a:off x="104932" y="114202"/>
            <a:ext cx="3795634" cy="740238"/>
          </a:xfrm>
          <a:prstGeom prst="rect">
            <a:avLst/>
          </a:prstGeom>
          <a:noFill/>
          <a:ln>
            <a:noFill/>
          </a:ln>
        </p:spPr>
      </p:pic>
      <p:sp>
        <p:nvSpPr>
          <p:cNvPr id="328" name="Google Shape;328;p24"/>
          <p:cNvSpPr txBox="1">
            <a:spLocks noGrp="1"/>
          </p:cNvSpPr>
          <p:nvPr>
            <p:ph type="body" idx="1"/>
          </p:nvPr>
        </p:nvSpPr>
        <p:spPr>
          <a:xfrm>
            <a:off x="104932" y="854440"/>
            <a:ext cx="11607607" cy="5501910"/>
          </a:xfrm>
          <a:prstGeom prst="rect">
            <a:avLst/>
          </a:prstGeom>
          <a:noFill/>
          <a:ln>
            <a:noFill/>
          </a:ln>
        </p:spPr>
        <p:txBody>
          <a:bodyPr spcFirstLastPara="1" wrap="square" lIns="91425" tIns="45700" rIns="91425" bIns="45700" anchor="t" anchorCtr="0">
            <a:normAutofit/>
          </a:bodyPr>
          <a:lstStyle/>
          <a:p>
            <a:pPr marL="114300" lvl="0" indent="0" algn="l" rtl="0">
              <a:lnSpc>
                <a:spcPct val="90000"/>
              </a:lnSpc>
              <a:spcBef>
                <a:spcPts val="1000"/>
              </a:spcBef>
              <a:spcAft>
                <a:spcPts val="0"/>
              </a:spcAft>
              <a:buSzPts val="1800"/>
              <a:buNone/>
            </a:pPr>
            <a:r>
              <a:rPr lang="en-IN" sz="4000" b="1" dirty="0">
                <a:latin typeface="Times New Roman"/>
                <a:ea typeface="Times New Roman"/>
                <a:cs typeface="Times New Roman"/>
                <a:sym typeface="Times New Roman"/>
              </a:rPr>
              <a:t>Q17. </a:t>
            </a:r>
            <a:r>
              <a:rPr lang="en-IN" sz="3200" b="0" i="0" u="none" strike="noStrike" dirty="0">
                <a:solidFill>
                  <a:srgbClr val="000000"/>
                </a:solidFill>
                <a:latin typeface="Times New Roman"/>
                <a:ea typeface="Times New Roman"/>
                <a:cs typeface="Times New Roman"/>
                <a:sym typeface="Times New Roman"/>
              </a:rPr>
              <a:t>16 litres of wine is mixed with 5 litres of water. The price of wine is Rs 12 per litre and the price of water is Rs 33 per litre. The average price of the mixture per litre is?</a:t>
            </a:r>
            <a:endParaRPr sz="3200" b="0" dirty="0"/>
          </a:p>
          <a:p>
            <a:pPr marL="114300" lvl="0" indent="0" algn="l" rtl="0">
              <a:lnSpc>
                <a:spcPct val="90000"/>
              </a:lnSpc>
              <a:spcBef>
                <a:spcPts val="1800"/>
              </a:spcBef>
              <a:spcAft>
                <a:spcPts val="0"/>
              </a:spcAft>
              <a:buClr>
                <a:schemeClr val="dk1"/>
              </a:buClr>
              <a:buSzPts val="1800"/>
              <a:buNone/>
            </a:pPr>
            <a:r>
              <a:rPr lang="en-IN" sz="3200" b="0" i="0" u="none" strike="noStrike" dirty="0">
                <a:solidFill>
                  <a:srgbClr val="000000"/>
                </a:solidFill>
                <a:latin typeface="Times New Roman"/>
                <a:ea typeface="Times New Roman"/>
                <a:cs typeface="Times New Roman"/>
                <a:sym typeface="Times New Roman"/>
              </a:rPr>
              <a:t>(a) 15                         (b) 17                    (c) 23             (d) 27</a:t>
            </a:r>
            <a:endParaRPr sz="3200" b="1" dirty="0">
              <a:latin typeface="Calibri"/>
              <a:ea typeface="Calibri"/>
              <a:cs typeface="Calibri"/>
              <a:sym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32"/>
        <p:cNvGrpSpPr/>
        <p:nvPr/>
      </p:nvGrpSpPr>
      <p:grpSpPr>
        <a:xfrm>
          <a:off x="0" y="0"/>
          <a:ext cx="0" cy="0"/>
          <a:chOff x="0" y="0"/>
          <a:chExt cx="0" cy="0"/>
        </a:xfrm>
      </p:grpSpPr>
      <p:sp>
        <p:nvSpPr>
          <p:cNvPr id="333" name="Google Shape;333;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IN"/>
              <a:t>Galgotias University</a:t>
            </a:r>
            <a:endParaRPr/>
          </a:p>
        </p:txBody>
      </p:sp>
      <p:sp>
        <p:nvSpPr>
          <p:cNvPr id="334" name="Google Shape;334;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IN"/>
              <a:t>25</a:t>
            </a:fld>
            <a:endParaRPr/>
          </a:p>
        </p:txBody>
      </p:sp>
      <p:pic>
        <p:nvPicPr>
          <p:cNvPr id="335" name="Google Shape;335;p25" descr="A blue circle with text and words&#10;&#10;Description automatically generated"/>
          <p:cNvPicPr preferRelativeResize="0"/>
          <p:nvPr/>
        </p:nvPicPr>
        <p:blipFill rotWithShape="1">
          <a:blip r:embed="rId3">
            <a:alphaModFix/>
          </a:blip>
          <a:srcRect/>
          <a:stretch/>
        </p:blipFill>
        <p:spPr>
          <a:xfrm>
            <a:off x="10758566" y="176754"/>
            <a:ext cx="874732" cy="874732"/>
          </a:xfrm>
          <a:prstGeom prst="rect">
            <a:avLst/>
          </a:prstGeom>
          <a:noFill/>
          <a:ln>
            <a:noFill/>
          </a:ln>
        </p:spPr>
      </p:pic>
      <p:pic>
        <p:nvPicPr>
          <p:cNvPr id="336" name="Google Shape;336;p25"/>
          <p:cNvPicPr preferRelativeResize="0"/>
          <p:nvPr/>
        </p:nvPicPr>
        <p:blipFill rotWithShape="1">
          <a:blip r:embed="rId4">
            <a:alphaModFix/>
          </a:blip>
          <a:srcRect/>
          <a:stretch/>
        </p:blipFill>
        <p:spPr>
          <a:xfrm>
            <a:off x="104932" y="114202"/>
            <a:ext cx="3795634" cy="740238"/>
          </a:xfrm>
          <a:prstGeom prst="rect">
            <a:avLst/>
          </a:prstGeom>
          <a:noFill/>
          <a:ln>
            <a:noFill/>
          </a:ln>
        </p:spPr>
      </p:pic>
      <p:sp>
        <p:nvSpPr>
          <p:cNvPr id="337" name="Google Shape;337;p25"/>
          <p:cNvSpPr txBox="1">
            <a:spLocks noGrp="1"/>
          </p:cNvSpPr>
          <p:nvPr>
            <p:ph type="body" idx="1"/>
          </p:nvPr>
        </p:nvSpPr>
        <p:spPr>
          <a:xfrm>
            <a:off x="104933" y="1051487"/>
            <a:ext cx="11528366" cy="5107818"/>
          </a:xfrm>
          <a:prstGeom prst="rect">
            <a:avLst/>
          </a:prstGeom>
          <a:noFill/>
          <a:ln>
            <a:noFill/>
          </a:ln>
        </p:spPr>
        <p:txBody>
          <a:bodyPr spcFirstLastPara="1" wrap="square" lIns="91425" tIns="45700" rIns="91425" bIns="45700" anchor="t" anchorCtr="0">
            <a:normAutofit/>
          </a:bodyPr>
          <a:lstStyle/>
          <a:p>
            <a:pPr marL="114300" lvl="0" indent="0" algn="l" rtl="0">
              <a:lnSpc>
                <a:spcPct val="90000"/>
              </a:lnSpc>
              <a:spcBef>
                <a:spcPts val="1000"/>
              </a:spcBef>
              <a:spcAft>
                <a:spcPts val="0"/>
              </a:spcAft>
              <a:buSzPts val="1800"/>
              <a:buNone/>
            </a:pPr>
            <a:r>
              <a:rPr lang="en-IN" sz="4000" b="1" dirty="0">
                <a:latin typeface="Times New Roman"/>
                <a:ea typeface="Times New Roman"/>
                <a:cs typeface="Times New Roman"/>
                <a:sym typeface="Times New Roman"/>
              </a:rPr>
              <a:t>Q18. </a:t>
            </a:r>
            <a:r>
              <a:rPr lang="en-IN" sz="3200" b="0" i="0" u="none" strike="noStrike" dirty="0">
                <a:solidFill>
                  <a:srgbClr val="000000"/>
                </a:solidFill>
                <a:latin typeface="Times New Roman"/>
                <a:ea typeface="Times New Roman"/>
                <a:cs typeface="Times New Roman"/>
                <a:sym typeface="Times New Roman"/>
              </a:rPr>
              <a:t>In my big pocket there is Rs 25 consisting of only the denominations of 20 paise and 50 paise. Thus, there are a total of 80 coins in my pocket. The no. of coins of the denomination of 50 paise is?</a:t>
            </a:r>
            <a:endParaRPr sz="3200" b="0" dirty="0"/>
          </a:p>
          <a:p>
            <a:pPr marL="114300" lvl="0" indent="0" algn="l" rtl="0">
              <a:lnSpc>
                <a:spcPct val="90000"/>
              </a:lnSpc>
              <a:spcBef>
                <a:spcPts val="1800"/>
              </a:spcBef>
              <a:spcAft>
                <a:spcPts val="0"/>
              </a:spcAft>
              <a:buClr>
                <a:schemeClr val="dk1"/>
              </a:buClr>
              <a:buSzPts val="1800"/>
              <a:buNone/>
            </a:pPr>
            <a:r>
              <a:rPr lang="en-IN" sz="3200" b="0" i="0" u="none" strike="noStrike" dirty="0">
                <a:solidFill>
                  <a:srgbClr val="000000"/>
                </a:solidFill>
                <a:latin typeface="Times New Roman"/>
                <a:ea typeface="Times New Roman"/>
                <a:cs typeface="Times New Roman"/>
                <a:sym typeface="Times New Roman"/>
              </a:rPr>
              <a:t>(a) 20                    (b) 25                      (c) 30                      (d) 35</a:t>
            </a:r>
            <a:endParaRPr sz="3200" b="1" dirty="0">
              <a:latin typeface="Calibri"/>
              <a:ea typeface="Calibri"/>
              <a:cs typeface="Calibri"/>
              <a:sym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41"/>
        <p:cNvGrpSpPr/>
        <p:nvPr/>
      </p:nvGrpSpPr>
      <p:grpSpPr>
        <a:xfrm>
          <a:off x="0" y="0"/>
          <a:ext cx="0" cy="0"/>
          <a:chOff x="0" y="0"/>
          <a:chExt cx="0" cy="0"/>
        </a:xfrm>
      </p:grpSpPr>
      <p:sp>
        <p:nvSpPr>
          <p:cNvPr id="342" name="Google Shape;342;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IN"/>
              <a:t>Galgotias University</a:t>
            </a:r>
            <a:endParaRPr/>
          </a:p>
        </p:txBody>
      </p:sp>
      <p:sp>
        <p:nvSpPr>
          <p:cNvPr id="343" name="Google Shape;343;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IN"/>
              <a:t>26</a:t>
            </a:fld>
            <a:endParaRPr/>
          </a:p>
        </p:txBody>
      </p:sp>
      <p:pic>
        <p:nvPicPr>
          <p:cNvPr id="344" name="Google Shape;344;p26" descr="A blue circle with text and words&#10;&#10;Description automatically generated"/>
          <p:cNvPicPr preferRelativeResize="0"/>
          <p:nvPr/>
        </p:nvPicPr>
        <p:blipFill rotWithShape="1">
          <a:blip r:embed="rId3">
            <a:alphaModFix/>
          </a:blip>
          <a:srcRect/>
          <a:stretch/>
        </p:blipFill>
        <p:spPr>
          <a:xfrm>
            <a:off x="10758566" y="176754"/>
            <a:ext cx="874732" cy="874732"/>
          </a:xfrm>
          <a:prstGeom prst="rect">
            <a:avLst/>
          </a:prstGeom>
          <a:noFill/>
          <a:ln>
            <a:noFill/>
          </a:ln>
        </p:spPr>
      </p:pic>
      <p:pic>
        <p:nvPicPr>
          <p:cNvPr id="345" name="Google Shape;345;p26"/>
          <p:cNvPicPr preferRelativeResize="0"/>
          <p:nvPr/>
        </p:nvPicPr>
        <p:blipFill rotWithShape="1">
          <a:blip r:embed="rId4">
            <a:alphaModFix/>
          </a:blip>
          <a:srcRect/>
          <a:stretch/>
        </p:blipFill>
        <p:spPr>
          <a:xfrm>
            <a:off x="104932" y="114202"/>
            <a:ext cx="3795634" cy="740238"/>
          </a:xfrm>
          <a:prstGeom prst="rect">
            <a:avLst/>
          </a:prstGeom>
          <a:noFill/>
          <a:ln>
            <a:noFill/>
          </a:ln>
        </p:spPr>
      </p:pic>
      <p:sp>
        <p:nvSpPr>
          <p:cNvPr id="346" name="Google Shape;346;p26"/>
          <p:cNvSpPr txBox="1">
            <a:spLocks noGrp="1"/>
          </p:cNvSpPr>
          <p:nvPr>
            <p:ph type="body" idx="1"/>
          </p:nvPr>
        </p:nvSpPr>
        <p:spPr>
          <a:xfrm>
            <a:off x="104932" y="854441"/>
            <a:ext cx="11528366" cy="5501910"/>
          </a:xfrm>
          <a:prstGeom prst="rect">
            <a:avLst/>
          </a:prstGeom>
          <a:noFill/>
          <a:ln>
            <a:noFill/>
          </a:ln>
        </p:spPr>
        <p:txBody>
          <a:bodyPr spcFirstLastPara="1" wrap="square" lIns="91425" tIns="45700" rIns="91425" bIns="45700" anchor="t" anchorCtr="0">
            <a:normAutofit/>
          </a:bodyPr>
          <a:lstStyle/>
          <a:p>
            <a:pPr marL="114300" lvl="0" indent="0" algn="l" rtl="0">
              <a:lnSpc>
                <a:spcPct val="90000"/>
              </a:lnSpc>
              <a:spcBef>
                <a:spcPts val="1000"/>
              </a:spcBef>
              <a:spcAft>
                <a:spcPts val="0"/>
              </a:spcAft>
              <a:buSzPts val="1800"/>
              <a:buNone/>
            </a:pPr>
            <a:r>
              <a:rPr lang="en-IN" sz="4000" b="1" dirty="0">
                <a:latin typeface="Times New Roman"/>
                <a:ea typeface="Times New Roman"/>
                <a:cs typeface="Times New Roman"/>
                <a:sym typeface="Times New Roman"/>
              </a:rPr>
              <a:t>Q19. </a:t>
            </a:r>
            <a:r>
              <a:rPr lang="en-IN" sz="3200" b="0" i="0" u="none" strike="noStrike" dirty="0">
                <a:solidFill>
                  <a:srgbClr val="000000"/>
                </a:solidFill>
                <a:latin typeface="Times New Roman"/>
                <a:ea typeface="Times New Roman"/>
                <a:cs typeface="Times New Roman"/>
                <a:sym typeface="Times New Roman"/>
              </a:rPr>
              <a:t>There are some pigeons and sheep in a grazing field. The no. of total heads is 60 and total legs are 168 including both pigeons and sheep. The no. of sheep is?</a:t>
            </a:r>
            <a:endParaRPr sz="3200" b="0" dirty="0"/>
          </a:p>
          <a:p>
            <a:pPr marL="114300" lvl="0" indent="0" algn="l" rtl="0">
              <a:lnSpc>
                <a:spcPct val="90000"/>
              </a:lnSpc>
              <a:spcBef>
                <a:spcPts val="1800"/>
              </a:spcBef>
              <a:spcAft>
                <a:spcPts val="0"/>
              </a:spcAft>
              <a:buClr>
                <a:schemeClr val="dk1"/>
              </a:buClr>
              <a:buSzPts val="1800"/>
              <a:buNone/>
            </a:pPr>
            <a:r>
              <a:rPr lang="en-IN" sz="3200" b="0" i="0" u="none" strike="noStrike" dirty="0">
                <a:solidFill>
                  <a:srgbClr val="000000"/>
                </a:solidFill>
                <a:latin typeface="Times New Roman"/>
                <a:ea typeface="Times New Roman"/>
                <a:cs typeface="Times New Roman"/>
                <a:sym typeface="Times New Roman"/>
              </a:rPr>
              <a:t>(a) 24                  (b) 36                     (c) 44                    (d) 30</a:t>
            </a:r>
            <a:endParaRPr sz="3200" b="1" dirty="0">
              <a:latin typeface="Calibri"/>
              <a:ea typeface="Calibri"/>
              <a:cs typeface="Calibri"/>
              <a:sym typeface="Calibri"/>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50"/>
        <p:cNvGrpSpPr/>
        <p:nvPr/>
      </p:nvGrpSpPr>
      <p:grpSpPr>
        <a:xfrm>
          <a:off x="0" y="0"/>
          <a:ext cx="0" cy="0"/>
          <a:chOff x="0" y="0"/>
          <a:chExt cx="0" cy="0"/>
        </a:xfrm>
      </p:grpSpPr>
      <p:sp>
        <p:nvSpPr>
          <p:cNvPr id="351" name="Google Shape;351;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IN"/>
              <a:t>Galgotias University</a:t>
            </a:r>
            <a:endParaRPr/>
          </a:p>
        </p:txBody>
      </p:sp>
      <p:sp>
        <p:nvSpPr>
          <p:cNvPr id="352" name="Google Shape;352;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IN"/>
              <a:t>27</a:t>
            </a:fld>
            <a:endParaRPr/>
          </a:p>
        </p:txBody>
      </p:sp>
      <p:pic>
        <p:nvPicPr>
          <p:cNvPr id="353" name="Google Shape;353;p27" descr="A blue circle with text and words&#10;&#10;Description automatically generated"/>
          <p:cNvPicPr preferRelativeResize="0"/>
          <p:nvPr/>
        </p:nvPicPr>
        <p:blipFill rotWithShape="1">
          <a:blip r:embed="rId3">
            <a:alphaModFix/>
          </a:blip>
          <a:srcRect/>
          <a:stretch/>
        </p:blipFill>
        <p:spPr>
          <a:xfrm>
            <a:off x="10758566" y="176754"/>
            <a:ext cx="874732" cy="874732"/>
          </a:xfrm>
          <a:prstGeom prst="rect">
            <a:avLst/>
          </a:prstGeom>
          <a:noFill/>
          <a:ln>
            <a:noFill/>
          </a:ln>
        </p:spPr>
      </p:pic>
      <p:pic>
        <p:nvPicPr>
          <p:cNvPr id="354" name="Google Shape;354;p27"/>
          <p:cNvPicPr preferRelativeResize="0"/>
          <p:nvPr/>
        </p:nvPicPr>
        <p:blipFill rotWithShape="1">
          <a:blip r:embed="rId4">
            <a:alphaModFix/>
          </a:blip>
          <a:srcRect/>
          <a:stretch/>
        </p:blipFill>
        <p:spPr>
          <a:xfrm>
            <a:off x="104932" y="114202"/>
            <a:ext cx="3795634" cy="740238"/>
          </a:xfrm>
          <a:prstGeom prst="rect">
            <a:avLst/>
          </a:prstGeom>
          <a:noFill/>
          <a:ln>
            <a:noFill/>
          </a:ln>
        </p:spPr>
      </p:pic>
      <p:sp>
        <p:nvSpPr>
          <p:cNvPr id="355" name="Google Shape;355;p27"/>
          <p:cNvSpPr txBox="1">
            <a:spLocks noGrp="1"/>
          </p:cNvSpPr>
          <p:nvPr>
            <p:ph type="body" idx="1"/>
          </p:nvPr>
        </p:nvSpPr>
        <p:spPr>
          <a:xfrm>
            <a:off x="104933" y="854440"/>
            <a:ext cx="11528366" cy="5558365"/>
          </a:xfrm>
          <a:prstGeom prst="rect">
            <a:avLst/>
          </a:prstGeom>
          <a:noFill/>
          <a:ln>
            <a:noFill/>
          </a:ln>
        </p:spPr>
        <p:txBody>
          <a:bodyPr spcFirstLastPara="1" wrap="square" lIns="91425" tIns="45700" rIns="91425" bIns="45700" anchor="t" anchorCtr="0">
            <a:normAutofit/>
          </a:bodyPr>
          <a:lstStyle/>
          <a:p>
            <a:pPr marL="114300" lvl="0" indent="0" algn="l" rtl="0">
              <a:lnSpc>
                <a:spcPct val="90000"/>
              </a:lnSpc>
              <a:spcBef>
                <a:spcPts val="1000"/>
              </a:spcBef>
              <a:spcAft>
                <a:spcPts val="0"/>
              </a:spcAft>
              <a:buSzPts val="1800"/>
              <a:buNone/>
            </a:pPr>
            <a:r>
              <a:rPr lang="en-IN" sz="4000" b="1" dirty="0">
                <a:latin typeface="Times New Roman"/>
                <a:ea typeface="Times New Roman"/>
                <a:cs typeface="Times New Roman"/>
                <a:sym typeface="Times New Roman"/>
              </a:rPr>
              <a:t>Q20. </a:t>
            </a:r>
            <a:r>
              <a:rPr lang="en-IN" sz="3200" b="0" i="0" u="none" strike="noStrike" dirty="0">
                <a:solidFill>
                  <a:srgbClr val="000000"/>
                </a:solidFill>
                <a:latin typeface="Times New Roman"/>
                <a:ea typeface="Times New Roman"/>
                <a:cs typeface="Times New Roman"/>
                <a:sym typeface="Times New Roman"/>
              </a:rPr>
              <a:t>A shopkeeper purchased two qualities of pulses at the rate of Rs. 200 per quintal and Rs. 260 per quintal. In 52 quintals of the second quality, how much pulse of the first quality should be mixed so that by selling the resulting mixture at Rs. 300 per quintal, he gains a profit of 25%?</a:t>
            </a:r>
            <a:endParaRPr sz="3200" b="0" dirty="0"/>
          </a:p>
          <a:p>
            <a:pPr marL="114300" lvl="0" indent="0" algn="l" rtl="0">
              <a:lnSpc>
                <a:spcPct val="90000"/>
              </a:lnSpc>
              <a:spcBef>
                <a:spcPts val="1800"/>
              </a:spcBef>
              <a:spcAft>
                <a:spcPts val="0"/>
              </a:spcAft>
              <a:buClr>
                <a:schemeClr val="dk1"/>
              </a:buClr>
              <a:buSzPts val="1800"/>
              <a:buNone/>
            </a:pPr>
            <a:r>
              <a:rPr lang="en-IN" sz="3200" b="0" i="0" u="none" strike="noStrike" dirty="0">
                <a:solidFill>
                  <a:srgbClr val="000000"/>
                </a:solidFill>
                <a:latin typeface="Times New Roman"/>
                <a:ea typeface="Times New Roman"/>
                <a:cs typeface="Times New Roman"/>
                <a:sym typeface="Times New Roman"/>
              </a:rPr>
              <a:t>(a) 52                      (b) 44                  (c) 26                     (d) 30</a:t>
            </a:r>
            <a:endParaRPr sz="3200" b="1" dirty="0">
              <a:latin typeface="Calibri"/>
              <a:ea typeface="Calibri"/>
              <a:cs typeface="Calibri"/>
              <a:sym typeface="Calibri"/>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59"/>
        <p:cNvGrpSpPr/>
        <p:nvPr/>
      </p:nvGrpSpPr>
      <p:grpSpPr>
        <a:xfrm>
          <a:off x="0" y="0"/>
          <a:ext cx="0" cy="0"/>
          <a:chOff x="0" y="0"/>
          <a:chExt cx="0" cy="0"/>
        </a:xfrm>
      </p:grpSpPr>
      <p:sp>
        <p:nvSpPr>
          <p:cNvPr id="360" name="Google Shape;360;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IN"/>
              <a:t>Galgotias University</a:t>
            </a:r>
            <a:endParaRPr/>
          </a:p>
        </p:txBody>
      </p:sp>
      <p:sp>
        <p:nvSpPr>
          <p:cNvPr id="361" name="Google Shape;361;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IN"/>
              <a:t>28</a:t>
            </a:fld>
            <a:endParaRPr/>
          </a:p>
        </p:txBody>
      </p:sp>
      <p:pic>
        <p:nvPicPr>
          <p:cNvPr id="362" name="Google Shape;362;p28" descr="A blue circle with text and words&#10;&#10;Description automatically generated"/>
          <p:cNvPicPr preferRelativeResize="0"/>
          <p:nvPr/>
        </p:nvPicPr>
        <p:blipFill rotWithShape="1">
          <a:blip r:embed="rId3">
            <a:alphaModFix/>
          </a:blip>
          <a:srcRect/>
          <a:stretch/>
        </p:blipFill>
        <p:spPr>
          <a:xfrm>
            <a:off x="10758566" y="176754"/>
            <a:ext cx="874732" cy="874732"/>
          </a:xfrm>
          <a:prstGeom prst="rect">
            <a:avLst/>
          </a:prstGeom>
          <a:noFill/>
          <a:ln>
            <a:noFill/>
          </a:ln>
        </p:spPr>
      </p:pic>
      <p:pic>
        <p:nvPicPr>
          <p:cNvPr id="363" name="Google Shape;363;p28"/>
          <p:cNvPicPr preferRelativeResize="0"/>
          <p:nvPr/>
        </p:nvPicPr>
        <p:blipFill rotWithShape="1">
          <a:blip r:embed="rId4">
            <a:alphaModFix/>
          </a:blip>
          <a:srcRect/>
          <a:stretch/>
        </p:blipFill>
        <p:spPr>
          <a:xfrm>
            <a:off x="104932" y="114202"/>
            <a:ext cx="3795634" cy="740238"/>
          </a:xfrm>
          <a:prstGeom prst="rect">
            <a:avLst/>
          </a:prstGeom>
          <a:noFill/>
          <a:ln>
            <a:noFill/>
          </a:ln>
        </p:spPr>
      </p:pic>
      <p:sp>
        <p:nvSpPr>
          <p:cNvPr id="364" name="Google Shape;364;p28"/>
          <p:cNvSpPr txBox="1">
            <a:spLocks noGrp="1"/>
          </p:cNvSpPr>
          <p:nvPr>
            <p:ph type="body" idx="1"/>
          </p:nvPr>
        </p:nvSpPr>
        <p:spPr>
          <a:xfrm>
            <a:off x="104932" y="854440"/>
            <a:ext cx="11412397" cy="5501910"/>
          </a:xfrm>
          <a:prstGeom prst="rect">
            <a:avLst/>
          </a:prstGeom>
          <a:noFill/>
          <a:ln>
            <a:noFill/>
          </a:ln>
        </p:spPr>
        <p:txBody>
          <a:bodyPr spcFirstLastPara="1" wrap="square" lIns="91425" tIns="45700" rIns="91425" bIns="45700" anchor="t" anchorCtr="0">
            <a:normAutofit/>
          </a:bodyPr>
          <a:lstStyle/>
          <a:p>
            <a:pPr marL="114300" lvl="0" indent="0" algn="l" rtl="0">
              <a:lnSpc>
                <a:spcPct val="90000"/>
              </a:lnSpc>
              <a:spcBef>
                <a:spcPts val="1000"/>
              </a:spcBef>
              <a:spcAft>
                <a:spcPts val="0"/>
              </a:spcAft>
              <a:buSzPts val="1800"/>
              <a:buNone/>
            </a:pPr>
            <a:r>
              <a:rPr lang="en-IN" sz="4000" b="1" dirty="0">
                <a:latin typeface="Times New Roman"/>
                <a:ea typeface="Times New Roman"/>
                <a:cs typeface="Times New Roman"/>
                <a:sym typeface="Times New Roman"/>
              </a:rPr>
              <a:t>Q21. </a:t>
            </a:r>
            <a:r>
              <a:rPr lang="en-IN" sz="3200" b="0" i="0" u="none" strike="noStrike" dirty="0">
                <a:solidFill>
                  <a:srgbClr val="000000"/>
                </a:solidFill>
                <a:latin typeface="Times New Roman"/>
                <a:ea typeface="Times New Roman"/>
                <a:cs typeface="Times New Roman"/>
                <a:sym typeface="Times New Roman"/>
              </a:rPr>
              <a:t>A man purchased 5 horses and 10 cows of Rs. 10000. He sells the horses at 15% profit and cows at 10% loss. Find the cost of each horse if he earns a profit of Rs. 375.</a:t>
            </a:r>
            <a:endParaRPr sz="3200" b="0" dirty="0"/>
          </a:p>
          <a:p>
            <a:pPr marL="114300" lvl="0" indent="0" algn="l" rtl="0">
              <a:lnSpc>
                <a:spcPct val="90000"/>
              </a:lnSpc>
              <a:spcBef>
                <a:spcPts val="1800"/>
              </a:spcBef>
              <a:spcAft>
                <a:spcPts val="0"/>
              </a:spcAft>
              <a:buClr>
                <a:schemeClr val="dk1"/>
              </a:buClr>
              <a:buSzPts val="1800"/>
              <a:buNone/>
            </a:pPr>
            <a:r>
              <a:rPr lang="en-IN" sz="3200" b="0" i="0" u="none" strike="noStrike" dirty="0">
                <a:solidFill>
                  <a:srgbClr val="000000"/>
                </a:solidFill>
                <a:latin typeface="Times New Roman"/>
                <a:ea typeface="Times New Roman"/>
                <a:cs typeface="Times New Roman"/>
                <a:sym typeface="Times New Roman"/>
              </a:rPr>
              <a:t>(a) 2100                (b) 1100                (c) 1250               (d) 1200</a:t>
            </a:r>
            <a:endParaRPr sz="3200" b="1" dirty="0">
              <a:latin typeface="Calibri"/>
              <a:ea typeface="Calibri"/>
              <a:cs typeface="Calibri"/>
              <a:sym typeface="Calibri"/>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68"/>
        <p:cNvGrpSpPr/>
        <p:nvPr/>
      </p:nvGrpSpPr>
      <p:grpSpPr>
        <a:xfrm>
          <a:off x="0" y="0"/>
          <a:ext cx="0" cy="0"/>
          <a:chOff x="0" y="0"/>
          <a:chExt cx="0" cy="0"/>
        </a:xfrm>
      </p:grpSpPr>
      <p:sp>
        <p:nvSpPr>
          <p:cNvPr id="369" name="Google Shape;36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IN"/>
              <a:t>Galgotias University</a:t>
            </a:r>
            <a:endParaRPr/>
          </a:p>
        </p:txBody>
      </p:sp>
      <p:sp>
        <p:nvSpPr>
          <p:cNvPr id="370" name="Google Shape;37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IN"/>
              <a:t>29</a:t>
            </a:fld>
            <a:endParaRPr/>
          </a:p>
        </p:txBody>
      </p:sp>
      <p:pic>
        <p:nvPicPr>
          <p:cNvPr id="371" name="Google Shape;371;p29" descr="A blue circle with text and words&#10;&#10;Description automatically generated"/>
          <p:cNvPicPr preferRelativeResize="0"/>
          <p:nvPr/>
        </p:nvPicPr>
        <p:blipFill rotWithShape="1">
          <a:blip r:embed="rId3">
            <a:alphaModFix/>
          </a:blip>
          <a:srcRect/>
          <a:stretch/>
        </p:blipFill>
        <p:spPr>
          <a:xfrm>
            <a:off x="10758566" y="176754"/>
            <a:ext cx="874732" cy="874732"/>
          </a:xfrm>
          <a:prstGeom prst="rect">
            <a:avLst/>
          </a:prstGeom>
          <a:noFill/>
          <a:ln>
            <a:noFill/>
          </a:ln>
        </p:spPr>
      </p:pic>
      <p:pic>
        <p:nvPicPr>
          <p:cNvPr id="372" name="Google Shape;372;p29"/>
          <p:cNvPicPr preferRelativeResize="0"/>
          <p:nvPr/>
        </p:nvPicPr>
        <p:blipFill rotWithShape="1">
          <a:blip r:embed="rId4">
            <a:alphaModFix/>
          </a:blip>
          <a:srcRect/>
          <a:stretch/>
        </p:blipFill>
        <p:spPr>
          <a:xfrm>
            <a:off x="104932" y="114202"/>
            <a:ext cx="3795634" cy="740238"/>
          </a:xfrm>
          <a:prstGeom prst="rect">
            <a:avLst/>
          </a:prstGeom>
          <a:noFill/>
          <a:ln>
            <a:noFill/>
          </a:ln>
        </p:spPr>
      </p:pic>
      <p:sp>
        <p:nvSpPr>
          <p:cNvPr id="373" name="Google Shape;373;p29"/>
          <p:cNvSpPr txBox="1">
            <a:spLocks noGrp="1"/>
          </p:cNvSpPr>
          <p:nvPr>
            <p:ph type="body" idx="1"/>
          </p:nvPr>
        </p:nvSpPr>
        <p:spPr>
          <a:xfrm>
            <a:off x="104932" y="854440"/>
            <a:ext cx="11528366" cy="5125120"/>
          </a:xfrm>
          <a:prstGeom prst="rect">
            <a:avLst/>
          </a:prstGeom>
          <a:noFill/>
          <a:ln>
            <a:noFill/>
          </a:ln>
        </p:spPr>
        <p:txBody>
          <a:bodyPr spcFirstLastPara="1" wrap="square" lIns="91425" tIns="45700" rIns="91425" bIns="45700" anchor="t" anchorCtr="0">
            <a:normAutofit/>
          </a:bodyPr>
          <a:lstStyle/>
          <a:p>
            <a:pPr marL="114300" lvl="0" indent="0" algn="l" rtl="0">
              <a:lnSpc>
                <a:spcPct val="90000"/>
              </a:lnSpc>
              <a:spcBef>
                <a:spcPts val="1000"/>
              </a:spcBef>
              <a:spcAft>
                <a:spcPts val="0"/>
              </a:spcAft>
              <a:buSzPts val="1800"/>
              <a:buNone/>
            </a:pPr>
            <a:r>
              <a:rPr lang="en-IN" sz="4000" b="1" dirty="0">
                <a:latin typeface="Times New Roman"/>
                <a:ea typeface="Times New Roman"/>
                <a:cs typeface="Times New Roman"/>
                <a:sym typeface="Times New Roman"/>
              </a:rPr>
              <a:t>Q22.</a:t>
            </a:r>
            <a:r>
              <a:rPr lang="en-IN" sz="1800" b="0" i="0" u="none" strike="noStrike" dirty="0">
                <a:solidFill>
                  <a:srgbClr val="000000"/>
                </a:solidFill>
                <a:latin typeface="Times New Roman"/>
                <a:ea typeface="Times New Roman"/>
                <a:cs typeface="Times New Roman"/>
                <a:sym typeface="Times New Roman"/>
              </a:rPr>
              <a:t> </a:t>
            </a:r>
            <a:r>
              <a:rPr lang="en-IN" sz="3200" b="0" i="0" u="none" strike="noStrike" dirty="0">
                <a:solidFill>
                  <a:srgbClr val="000000"/>
                </a:solidFill>
                <a:latin typeface="Times New Roman"/>
                <a:ea typeface="Times New Roman"/>
                <a:cs typeface="Times New Roman"/>
                <a:sym typeface="Times New Roman"/>
              </a:rPr>
              <a:t>The ratio of water and wine in two different containers is 2:3 and 4:5. In what ratio are we required to mix the mixture of two containers in order to get the new mixture in which the ratio of wine and water is 7:5?</a:t>
            </a:r>
            <a:endParaRPr sz="3200" b="0" dirty="0"/>
          </a:p>
          <a:p>
            <a:pPr marL="114300" lvl="0" indent="0" algn="l" rtl="0">
              <a:lnSpc>
                <a:spcPct val="90000"/>
              </a:lnSpc>
              <a:spcBef>
                <a:spcPts val="1800"/>
              </a:spcBef>
              <a:spcAft>
                <a:spcPts val="0"/>
              </a:spcAft>
              <a:buClr>
                <a:schemeClr val="dk1"/>
              </a:buClr>
              <a:buSzPts val="1800"/>
              <a:buNone/>
            </a:pPr>
            <a:r>
              <a:rPr lang="en-IN" sz="3200" b="0" i="0" u="none" strike="noStrike" dirty="0">
                <a:solidFill>
                  <a:srgbClr val="000000"/>
                </a:solidFill>
                <a:latin typeface="Times New Roman"/>
                <a:ea typeface="Times New Roman"/>
                <a:cs typeface="Times New Roman"/>
                <a:sym typeface="Times New Roman"/>
              </a:rPr>
              <a:t>(a) 7:3                   (b) 5:3                    (c) 8:5                  (d) 2:7</a:t>
            </a:r>
            <a:endParaRPr sz="3200" b="1" dirty="0">
              <a:latin typeface="Calibri"/>
              <a:ea typeface="Calibri"/>
              <a:cs typeface="Calibri"/>
              <a:sym typeface="Calibri"/>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77"/>
        <p:cNvGrpSpPr/>
        <p:nvPr/>
      </p:nvGrpSpPr>
      <p:grpSpPr>
        <a:xfrm>
          <a:off x="0" y="0"/>
          <a:ext cx="0" cy="0"/>
          <a:chOff x="0" y="0"/>
          <a:chExt cx="0" cy="0"/>
        </a:xfrm>
      </p:grpSpPr>
      <p:sp>
        <p:nvSpPr>
          <p:cNvPr id="378" name="Google Shape;378;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IN"/>
              <a:t>Galgotias University</a:t>
            </a:r>
            <a:endParaRPr/>
          </a:p>
        </p:txBody>
      </p:sp>
      <p:sp>
        <p:nvSpPr>
          <p:cNvPr id="379" name="Google Shape;379;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IN"/>
              <a:t>30</a:t>
            </a:fld>
            <a:endParaRPr/>
          </a:p>
        </p:txBody>
      </p:sp>
      <p:pic>
        <p:nvPicPr>
          <p:cNvPr id="380" name="Google Shape;380;p30" descr="A blue circle with text and words&#10;&#10;Description automatically generated"/>
          <p:cNvPicPr preferRelativeResize="0"/>
          <p:nvPr/>
        </p:nvPicPr>
        <p:blipFill rotWithShape="1">
          <a:blip r:embed="rId3">
            <a:alphaModFix/>
          </a:blip>
          <a:srcRect/>
          <a:stretch/>
        </p:blipFill>
        <p:spPr>
          <a:xfrm>
            <a:off x="10758566" y="176754"/>
            <a:ext cx="874732" cy="874732"/>
          </a:xfrm>
          <a:prstGeom prst="rect">
            <a:avLst/>
          </a:prstGeom>
          <a:noFill/>
          <a:ln>
            <a:noFill/>
          </a:ln>
        </p:spPr>
      </p:pic>
      <p:pic>
        <p:nvPicPr>
          <p:cNvPr id="381" name="Google Shape;381;p30"/>
          <p:cNvPicPr preferRelativeResize="0"/>
          <p:nvPr/>
        </p:nvPicPr>
        <p:blipFill rotWithShape="1">
          <a:blip r:embed="rId4">
            <a:alphaModFix/>
          </a:blip>
          <a:srcRect/>
          <a:stretch/>
        </p:blipFill>
        <p:spPr>
          <a:xfrm>
            <a:off x="104932" y="114202"/>
            <a:ext cx="3795634" cy="740238"/>
          </a:xfrm>
          <a:prstGeom prst="rect">
            <a:avLst/>
          </a:prstGeom>
          <a:noFill/>
          <a:ln>
            <a:noFill/>
          </a:ln>
        </p:spPr>
      </p:pic>
      <p:sp>
        <p:nvSpPr>
          <p:cNvPr id="382" name="Google Shape;382;p30"/>
          <p:cNvSpPr txBox="1">
            <a:spLocks noGrp="1"/>
          </p:cNvSpPr>
          <p:nvPr>
            <p:ph type="body" idx="1"/>
          </p:nvPr>
        </p:nvSpPr>
        <p:spPr>
          <a:xfrm>
            <a:off x="104932" y="854440"/>
            <a:ext cx="11528366" cy="5501910"/>
          </a:xfrm>
          <a:prstGeom prst="rect">
            <a:avLst/>
          </a:prstGeom>
          <a:noFill/>
          <a:ln>
            <a:noFill/>
          </a:ln>
        </p:spPr>
        <p:txBody>
          <a:bodyPr spcFirstLastPara="1" wrap="square" lIns="91425" tIns="45700" rIns="91425" bIns="45700" anchor="t" anchorCtr="0">
            <a:normAutofit/>
          </a:bodyPr>
          <a:lstStyle/>
          <a:p>
            <a:pPr marL="114300" lvl="0" indent="0" algn="l" rtl="0">
              <a:lnSpc>
                <a:spcPct val="90000"/>
              </a:lnSpc>
              <a:spcBef>
                <a:spcPts val="1000"/>
              </a:spcBef>
              <a:spcAft>
                <a:spcPts val="0"/>
              </a:spcAft>
              <a:buSzPts val="1800"/>
              <a:buNone/>
            </a:pPr>
            <a:r>
              <a:rPr lang="en-IN" sz="4000" b="1" dirty="0">
                <a:latin typeface="Times New Roman"/>
                <a:ea typeface="Times New Roman"/>
                <a:cs typeface="Times New Roman"/>
                <a:sym typeface="Times New Roman"/>
              </a:rPr>
              <a:t>Q23.</a:t>
            </a:r>
            <a:r>
              <a:rPr lang="en-IN" sz="1800" b="0" i="0" u="none" strike="noStrike" dirty="0">
                <a:solidFill>
                  <a:srgbClr val="000000"/>
                </a:solidFill>
                <a:latin typeface="Times New Roman"/>
                <a:ea typeface="Times New Roman"/>
                <a:cs typeface="Times New Roman"/>
                <a:sym typeface="Times New Roman"/>
              </a:rPr>
              <a:t> </a:t>
            </a:r>
            <a:r>
              <a:rPr lang="en-IN" sz="3200" b="0" i="0" u="none" strike="noStrike" dirty="0">
                <a:solidFill>
                  <a:srgbClr val="000000"/>
                </a:solidFill>
                <a:latin typeface="Times New Roman"/>
                <a:ea typeface="Times New Roman"/>
                <a:cs typeface="Times New Roman"/>
                <a:sym typeface="Times New Roman"/>
              </a:rPr>
              <a:t>In the 75 litres of mixture of soda and water, the ratio of soda and water is 4:1. The quantity of water required to make the ratio of soda and water 3:1 is?</a:t>
            </a:r>
            <a:endParaRPr sz="3200" b="0" dirty="0"/>
          </a:p>
          <a:p>
            <a:pPr marL="114300" lvl="0" indent="0" algn="l" rtl="0">
              <a:lnSpc>
                <a:spcPct val="90000"/>
              </a:lnSpc>
              <a:spcBef>
                <a:spcPts val="1800"/>
              </a:spcBef>
              <a:spcAft>
                <a:spcPts val="0"/>
              </a:spcAft>
              <a:buClr>
                <a:schemeClr val="dk1"/>
              </a:buClr>
              <a:buSzPts val="1800"/>
              <a:buNone/>
            </a:pPr>
            <a:r>
              <a:rPr lang="en-IN" sz="3200" b="0" i="0" u="none" strike="noStrike" dirty="0">
                <a:solidFill>
                  <a:srgbClr val="000000"/>
                </a:solidFill>
                <a:latin typeface="Times New Roman"/>
                <a:ea typeface="Times New Roman"/>
                <a:cs typeface="Times New Roman"/>
                <a:sym typeface="Times New Roman"/>
              </a:rPr>
              <a:t>(a) 10                 (b) 15                   (c) 5                   (d) 12</a:t>
            </a:r>
            <a:endParaRPr sz="3200" b="1" dirty="0">
              <a:latin typeface="Calibri"/>
              <a:ea typeface="Calibri"/>
              <a:cs typeface="Calibri"/>
              <a:sym typeface="Calibri"/>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386"/>
        <p:cNvGrpSpPr/>
        <p:nvPr/>
      </p:nvGrpSpPr>
      <p:grpSpPr>
        <a:xfrm>
          <a:off x="0" y="0"/>
          <a:ext cx="0" cy="0"/>
          <a:chOff x="0" y="0"/>
          <a:chExt cx="0" cy="0"/>
        </a:xfrm>
      </p:grpSpPr>
      <p:sp>
        <p:nvSpPr>
          <p:cNvPr id="387" name="Google Shape;387;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IN"/>
              <a:t>Galgotias University</a:t>
            </a:r>
            <a:endParaRPr/>
          </a:p>
        </p:txBody>
      </p:sp>
      <p:sp>
        <p:nvSpPr>
          <p:cNvPr id="388" name="Google Shape;388;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IN"/>
              <a:t>31</a:t>
            </a:fld>
            <a:endParaRPr/>
          </a:p>
        </p:txBody>
      </p:sp>
      <p:pic>
        <p:nvPicPr>
          <p:cNvPr id="389" name="Google Shape;389;p31" descr="A blue circle with text and words&#10;&#10;Description automatically generated"/>
          <p:cNvPicPr preferRelativeResize="0"/>
          <p:nvPr/>
        </p:nvPicPr>
        <p:blipFill rotWithShape="1">
          <a:blip r:embed="rId3">
            <a:alphaModFix/>
          </a:blip>
          <a:srcRect/>
          <a:stretch/>
        </p:blipFill>
        <p:spPr>
          <a:xfrm>
            <a:off x="10758566" y="176754"/>
            <a:ext cx="874732" cy="874732"/>
          </a:xfrm>
          <a:prstGeom prst="rect">
            <a:avLst/>
          </a:prstGeom>
          <a:noFill/>
          <a:ln>
            <a:noFill/>
          </a:ln>
        </p:spPr>
      </p:pic>
      <p:pic>
        <p:nvPicPr>
          <p:cNvPr id="390" name="Google Shape;390;p31"/>
          <p:cNvPicPr preferRelativeResize="0"/>
          <p:nvPr/>
        </p:nvPicPr>
        <p:blipFill rotWithShape="1">
          <a:blip r:embed="rId4">
            <a:alphaModFix/>
          </a:blip>
          <a:srcRect/>
          <a:stretch/>
        </p:blipFill>
        <p:spPr>
          <a:xfrm>
            <a:off x="104932" y="114202"/>
            <a:ext cx="3795634" cy="740238"/>
          </a:xfrm>
          <a:prstGeom prst="rect">
            <a:avLst/>
          </a:prstGeom>
          <a:noFill/>
          <a:ln>
            <a:noFill/>
          </a:ln>
        </p:spPr>
      </p:pic>
      <p:sp>
        <p:nvSpPr>
          <p:cNvPr id="391" name="Google Shape;391;p31"/>
          <p:cNvSpPr txBox="1">
            <a:spLocks noGrp="1"/>
          </p:cNvSpPr>
          <p:nvPr>
            <p:ph type="body" idx="1"/>
          </p:nvPr>
        </p:nvSpPr>
        <p:spPr>
          <a:xfrm>
            <a:off x="104932" y="854440"/>
            <a:ext cx="11528366" cy="5304864"/>
          </a:xfrm>
          <a:prstGeom prst="rect">
            <a:avLst/>
          </a:prstGeom>
          <a:noFill/>
          <a:ln>
            <a:noFill/>
          </a:ln>
        </p:spPr>
        <p:txBody>
          <a:bodyPr spcFirstLastPara="1" wrap="square" lIns="91425" tIns="45700" rIns="91425" bIns="45700" anchor="t" anchorCtr="0">
            <a:normAutofit/>
          </a:bodyPr>
          <a:lstStyle/>
          <a:p>
            <a:pPr marL="114300" lvl="0" indent="0" algn="l" rtl="0">
              <a:lnSpc>
                <a:spcPct val="90000"/>
              </a:lnSpc>
              <a:spcBef>
                <a:spcPts val="1000"/>
              </a:spcBef>
              <a:spcAft>
                <a:spcPts val="0"/>
              </a:spcAft>
              <a:buSzPts val="1800"/>
              <a:buNone/>
            </a:pPr>
            <a:r>
              <a:rPr lang="en-IN" sz="4000" b="1" dirty="0">
                <a:latin typeface="Times New Roman"/>
                <a:ea typeface="Times New Roman"/>
                <a:cs typeface="Times New Roman"/>
                <a:sym typeface="Times New Roman"/>
              </a:rPr>
              <a:t>Q24.</a:t>
            </a:r>
            <a:r>
              <a:rPr lang="en-IN" sz="4000" b="1" dirty="0">
                <a:solidFill>
                  <a:srgbClr val="000000"/>
                </a:solidFill>
                <a:latin typeface="Times New Roman"/>
                <a:ea typeface="Times New Roman"/>
                <a:cs typeface="Times New Roman"/>
                <a:sym typeface="Times New Roman"/>
              </a:rPr>
              <a:t> </a:t>
            </a:r>
            <a:r>
              <a:rPr lang="en-IN" sz="3200" b="0" i="0" u="none" strike="noStrike" dirty="0">
                <a:solidFill>
                  <a:srgbClr val="000000"/>
                </a:solidFill>
                <a:latin typeface="Times New Roman"/>
                <a:ea typeface="Times New Roman"/>
                <a:cs typeface="Times New Roman"/>
                <a:sym typeface="Times New Roman"/>
              </a:rPr>
              <a:t>A vessel is full of 80 Litres of milk, 8 litres taken out and replaced by water. Again 8 litres of mixture are taken out and replaced by water, find the amount of milk in the final mixture so formed?</a:t>
            </a:r>
            <a:endParaRPr sz="3200" b="0" dirty="0"/>
          </a:p>
          <a:p>
            <a:pPr marL="114300" lvl="0" indent="0" algn="l" rtl="0">
              <a:lnSpc>
                <a:spcPct val="90000"/>
              </a:lnSpc>
              <a:spcBef>
                <a:spcPts val="1800"/>
              </a:spcBef>
              <a:spcAft>
                <a:spcPts val="0"/>
              </a:spcAft>
              <a:buClr>
                <a:schemeClr val="dk1"/>
              </a:buClr>
              <a:buSzPts val="1800"/>
              <a:buNone/>
            </a:pPr>
            <a:r>
              <a:rPr lang="en-IN" sz="3200" b="0" i="0" u="none" strike="noStrike" dirty="0">
                <a:solidFill>
                  <a:srgbClr val="000000"/>
                </a:solidFill>
                <a:latin typeface="Times New Roman"/>
                <a:ea typeface="Times New Roman"/>
                <a:cs typeface="Times New Roman"/>
                <a:sym typeface="Times New Roman"/>
              </a:rPr>
              <a:t>(a) 24.5                (b) 36.4                 (c) 44.8                 (d) 64.8</a:t>
            </a:r>
            <a:endParaRPr sz="3200" b="1" dirty="0">
              <a:latin typeface="Calibri"/>
              <a:ea typeface="Calibri"/>
              <a:cs typeface="Calibri"/>
              <a:sym typeface="Calibri"/>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395"/>
        <p:cNvGrpSpPr/>
        <p:nvPr/>
      </p:nvGrpSpPr>
      <p:grpSpPr>
        <a:xfrm>
          <a:off x="0" y="0"/>
          <a:ext cx="0" cy="0"/>
          <a:chOff x="0" y="0"/>
          <a:chExt cx="0" cy="0"/>
        </a:xfrm>
      </p:grpSpPr>
      <p:sp>
        <p:nvSpPr>
          <p:cNvPr id="396" name="Google Shape;396;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IN"/>
              <a:t>Galgotias University</a:t>
            </a:r>
            <a:endParaRPr/>
          </a:p>
        </p:txBody>
      </p:sp>
      <p:sp>
        <p:nvSpPr>
          <p:cNvPr id="397" name="Google Shape;397;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IN"/>
              <a:t>32</a:t>
            </a:fld>
            <a:endParaRPr/>
          </a:p>
        </p:txBody>
      </p:sp>
      <p:pic>
        <p:nvPicPr>
          <p:cNvPr id="398" name="Google Shape;398;p32" descr="A blue circle with text and words&#10;&#10;Description automatically generated"/>
          <p:cNvPicPr preferRelativeResize="0"/>
          <p:nvPr/>
        </p:nvPicPr>
        <p:blipFill rotWithShape="1">
          <a:blip r:embed="rId3">
            <a:alphaModFix/>
          </a:blip>
          <a:srcRect/>
          <a:stretch/>
        </p:blipFill>
        <p:spPr>
          <a:xfrm>
            <a:off x="10758566" y="176754"/>
            <a:ext cx="874732" cy="874732"/>
          </a:xfrm>
          <a:prstGeom prst="rect">
            <a:avLst/>
          </a:prstGeom>
          <a:noFill/>
          <a:ln>
            <a:noFill/>
          </a:ln>
        </p:spPr>
      </p:pic>
      <p:pic>
        <p:nvPicPr>
          <p:cNvPr id="399" name="Google Shape;399;p32"/>
          <p:cNvPicPr preferRelativeResize="0"/>
          <p:nvPr/>
        </p:nvPicPr>
        <p:blipFill rotWithShape="1">
          <a:blip r:embed="rId4">
            <a:alphaModFix/>
          </a:blip>
          <a:srcRect/>
          <a:stretch/>
        </p:blipFill>
        <p:spPr>
          <a:xfrm>
            <a:off x="104932" y="114202"/>
            <a:ext cx="3795634" cy="740238"/>
          </a:xfrm>
          <a:prstGeom prst="rect">
            <a:avLst/>
          </a:prstGeom>
          <a:noFill/>
          <a:ln>
            <a:noFill/>
          </a:ln>
        </p:spPr>
      </p:pic>
      <p:sp>
        <p:nvSpPr>
          <p:cNvPr id="400" name="Google Shape;400;p32"/>
          <p:cNvSpPr txBox="1">
            <a:spLocks noGrp="1"/>
          </p:cNvSpPr>
          <p:nvPr>
            <p:ph type="body" idx="1"/>
          </p:nvPr>
        </p:nvSpPr>
        <p:spPr>
          <a:xfrm>
            <a:off x="104932" y="854440"/>
            <a:ext cx="11528365" cy="5867035"/>
          </a:xfrm>
          <a:prstGeom prst="rect">
            <a:avLst/>
          </a:prstGeom>
          <a:noFill/>
          <a:ln>
            <a:noFill/>
          </a:ln>
        </p:spPr>
        <p:txBody>
          <a:bodyPr spcFirstLastPara="1" wrap="square" lIns="91425" tIns="45700" rIns="91425" bIns="45700" anchor="t" anchorCtr="0">
            <a:noAutofit/>
          </a:bodyPr>
          <a:lstStyle/>
          <a:p>
            <a:pPr marL="114300" lvl="0" indent="0" algn="l" rtl="0">
              <a:lnSpc>
                <a:spcPct val="90000"/>
              </a:lnSpc>
              <a:spcBef>
                <a:spcPts val="1000"/>
              </a:spcBef>
              <a:spcAft>
                <a:spcPts val="0"/>
              </a:spcAft>
              <a:buSzPts val="1800"/>
              <a:buNone/>
            </a:pPr>
            <a:r>
              <a:rPr lang="en-IN" sz="4000" b="1" dirty="0">
                <a:latin typeface="Times New Roman"/>
                <a:ea typeface="Times New Roman"/>
                <a:cs typeface="Times New Roman"/>
                <a:sym typeface="Times New Roman"/>
              </a:rPr>
              <a:t>Q25. </a:t>
            </a:r>
            <a:r>
              <a:rPr lang="en-IN" sz="3200" b="0" i="0" u="none" strike="noStrike" dirty="0">
                <a:solidFill>
                  <a:srgbClr val="000000"/>
                </a:solidFill>
                <a:latin typeface="Times New Roman"/>
                <a:ea typeface="Times New Roman"/>
                <a:cs typeface="Times New Roman"/>
                <a:sym typeface="Times New Roman"/>
              </a:rPr>
              <a:t>A vessel is full of milk. 15 litres of milk are taken out and replaced by water. This process is repeated once more. Find the initial amount of milk in the vessel if at the end the ratio of milk to water becomes 16:9.</a:t>
            </a:r>
            <a:endParaRPr sz="3200" b="0" dirty="0"/>
          </a:p>
          <a:p>
            <a:pPr marL="114300" lvl="0" indent="0" algn="l" rtl="0">
              <a:lnSpc>
                <a:spcPct val="90000"/>
              </a:lnSpc>
              <a:spcBef>
                <a:spcPts val="1800"/>
              </a:spcBef>
              <a:spcAft>
                <a:spcPts val="0"/>
              </a:spcAft>
              <a:buClr>
                <a:schemeClr val="dk1"/>
              </a:buClr>
              <a:buSzPts val="1800"/>
              <a:buNone/>
            </a:pPr>
            <a:r>
              <a:rPr lang="en-IN" sz="3200" b="0" i="0" u="none" strike="noStrike" dirty="0">
                <a:solidFill>
                  <a:srgbClr val="000000"/>
                </a:solidFill>
                <a:latin typeface="Times New Roman"/>
                <a:ea typeface="Times New Roman"/>
                <a:cs typeface="Times New Roman"/>
                <a:sym typeface="Times New Roman"/>
              </a:rPr>
              <a:t>(a) 44                (b) 65                  (c) 75                       (d) 80</a:t>
            </a:r>
            <a:endParaRPr sz="3200" b="1" dirty="0">
              <a:latin typeface="Calibri"/>
              <a:ea typeface="Calibri"/>
              <a:cs typeface="Calibri"/>
              <a:sym typeface="Calibri"/>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404"/>
        <p:cNvGrpSpPr/>
        <p:nvPr/>
      </p:nvGrpSpPr>
      <p:grpSpPr>
        <a:xfrm>
          <a:off x="0" y="0"/>
          <a:ext cx="0" cy="0"/>
          <a:chOff x="0" y="0"/>
          <a:chExt cx="0" cy="0"/>
        </a:xfrm>
      </p:grpSpPr>
      <p:sp>
        <p:nvSpPr>
          <p:cNvPr id="405" name="Google Shape;405;p3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IN"/>
              <a:t>Galgotias University</a:t>
            </a:r>
            <a:endParaRPr/>
          </a:p>
        </p:txBody>
      </p:sp>
      <p:sp>
        <p:nvSpPr>
          <p:cNvPr id="406" name="Google Shape;406;p3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IN"/>
              <a:t>33</a:t>
            </a:fld>
            <a:endParaRPr/>
          </a:p>
        </p:txBody>
      </p:sp>
      <p:pic>
        <p:nvPicPr>
          <p:cNvPr id="407" name="Google Shape;407;p33" descr="A blue circle with text and words&#10;&#10;Description automatically generated"/>
          <p:cNvPicPr preferRelativeResize="0"/>
          <p:nvPr/>
        </p:nvPicPr>
        <p:blipFill rotWithShape="1">
          <a:blip r:embed="rId3">
            <a:alphaModFix/>
          </a:blip>
          <a:srcRect/>
          <a:stretch/>
        </p:blipFill>
        <p:spPr>
          <a:xfrm>
            <a:off x="10758566" y="176754"/>
            <a:ext cx="874732" cy="874732"/>
          </a:xfrm>
          <a:prstGeom prst="rect">
            <a:avLst/>
          </a:prstGeom>
          <a:noFill/>
          <a:ln>
            <a:noFill/>
          </a:ln>
        </p:spPr>
      </p:pic>
      <p:pic>
        <p:nvPicPr>
          <p:cNvPr id="408" name="Google Shape;408;p33"/>
          <p:cNvPicPr preferRelativeResize="0"/>
          <p:nvPr/>
        </p:nvPicPr>
        <p:blipFill rotWithShape="1">
          <a:blip r:embed="rId4">
            <a:alphaModFix/>
          </a:blip>
          <a:srcRect/>
          <a:stretch/>
        </p:blipFill>
        <p:spPr>
          <a:xfrm>
            <a:off x="104932" y="114202"/>
            <a:ext cx="3795634" cy="740238"/>
          </a:xfrm>
          <a:prstGeom prst="rect">
            <a:avLst/>
          </a:prstGeom>
          <a:noFill/>
          <a:ln>
            <a:noFill/>
          </a:ln>
        </p:spPr>
      </p:pic>
      <p:sp>
        <p:nvSpPr>
          <p:cNvPr id="411" name="Google Shape;411;p33"/>
          <p:cNvSpPr/>
          <p:nvPr/>
        </p:nvSpPr>
        <p:spPr>
          <a:xfrm>
            <a:off x="4127500" y="2935288"/>
            <a:ext cx="12192000" cy="457200"/>
          </a:xfrm>
          <a:prstGeom prst="rect">
            <a:avLst/>
          </a:prstGeom>
          <a:noFill/>
          <a:ln>
            <a:noFill/>
          </a:ln>
        </p:spPr>
        <p:txBody>
          <a:bodyPr spcFirstLastPara="1" wrap="square" lIns="91425" tIns="45700" rIns="91425" bIns="45700" anchor="ctr" anchorCtr="0">
            <a:sp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4" name="Title 1">
            <a:extLst>
              <a:ext uri="{FF2B5EF4-FFF2-40B4-BE49-F238E27FC236}">
                <a16:creationId xmlns:a16="http://schemas.microsoft.com/office/drawing/2014/main" id="{C27A4029-7091-DC6C-7B19-CAC1DEEF2CC6}"/>
              </a:ext>
            </a:extLst>
          </p:cNvPr>
          <p:cNvSpPr>
            <a:spLocks noGrp="1"/>
          </p:cNvSpPr>
          <p:nvPr>
            <p:ph type="title"/>
          </p:nvPr>
        </p:nvSpPr>
        <p:spPr>
          <a:xfrm>
            <a:off x="558702" y="1051486"/>
            <a:ext cx="4800261" cy="1644592"/>
          </a:xfrm>
        </p:spPr>
        <p:txBody>
          <a:bodyPr vert="horz" lIns="91440" tIns="45720" rIns="91440" bIns="45720" rtlCol="0" anchor="t">
            <a:normAutofit/>
          </a:bodyPr>
          <a:lstStyle/>
          <a:p>
            <a:r>
              <a:rPr lang="en-US" sz="4000" b="1" dirty="0">
                <a:solidFill>
                  <a:schemeClr val="tx1">
                    <a:lumMod val="95000"/>
                    <a:lumOff val="5000"/>
                  </a:schemeClr>
                </a:solidFill>
              </a:rPr>
              <a:t>Reflection-</a:t>
            </a:r>
            <a:br>
              <a:rPr lang="en-US" sz="4000" b="1" dirty="0">
                <a:solidFill>
                  <a:schemeClr val="tx1">
                    <a:lumMod val="95000"/>
                    <a:lumOff val="5000"/>
                  </a:schemeClr>
                </a:solidFill>
              </a:rPr>
            </a:br>
            <a:r>
              <a:rPr lang="en-US" sz="4000" b="1" dirty="0">
                <a:solidFill>
                  <a:schemeClr val="tx1">
                    <a:lumMod val="95000"/>
                    <a:lumOff val="5000"/>
                  </a:schemeClr>
                </a:solidFill>
              </a:rPr>
              <a:t>Learning Activity 2</a:t>
            </a:r>
          </a:p>
        </p:txBody>
      </p:sp>
      <p:sp>
        <p:nvSpPr>
          <p:cNvPr id="2" name="TextBox 1">
            <a:extLst>
              <a:ext uri="{FF2B5EF4-FFF2-40B4-BE49-F238E27FC236}">
                <a16:creationId xmlns:a16="http://schemas.microsoft.com/office/drawing/2014/main" id="{E3B5E550-380A-2E3C-3FFF-B0F4A173EEB5}"/>
              </a:ext>
            </a:extLst>
          </p:cNvPr>
          <p:cNvSpPr txBox="1"/>
          <p:nvPr/>
        </p:nvSpPr>
        <p:spPr>
          <a:xfrm>
            <a:off x="395323" y="2607439"/>
            <a:ext cx="10493871" cy="2677656"/>
          </a:xfrm>
          <a:prstGeom prst="rect">
            <a:avLst/>
          </a:prstGeom>
          <a:noFill/>
        </p:spPr>
        <p:txBody>
          <a:bodyPr wrap="square">
            <a:spAutoFit/>
          </a:bodyPr>
          <a:lstStyle/>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q"/>
            </a:pPr>
            <a:r>
              <a:rPr kumimoji="0" lang="en-US" altLang="en-US" sz="2800" b="1" i="0" u="none" strike="noStrike" cap="none" normalizeH="0" baseline="0" dirty="0">
                <a:ln>
                  <a:noFill/>
                </a:ln>
                <a:solidFill>
                  <a:schemeClr val="tx1"/>
                </a:solidFill>
                <a:effectLst/>
                <a:latin typeface="Arial" panose="020B0604020202020204" pitchFamily="34" charset="0"/>
              </a:rPr>
              <a:t>Students review appropriate solution approaches</a:t>
            </a:r>
            <a:r>
              <a:rPr kumimoji="0" lang="en-US" altLang="en-US" sz="2800" b="0" i="0" u="none" strike="noStrike" cap="none" normalizeH="0" baseline="0" dirty="0">
                <a:ln>
                  <a:noFill/>
                </a:ln>
                <a:solidFill>
                  <a:schemeClr val="tx1"/>
                </a:solidFill>
                <a:effectLst/>
                <a:latin typeface="Arial" panose="020B0604020202020204" pitchFamily="34" charset="0"/>
              </a:rPr>
              <a:t> and discuss key takeaways.</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q"/>
            </a:pPr>
            <a:r>
              <a:rPr kumimoji="0" lang="en-US" altLang="en-US" sz="2800" b="1" i="0" u="none" strike="noStrike" cap="none" normalizeH="0" baseline="0" dirty="0">
                <a:ln>
                  <a:noFill/>
                </a:ln>
                <a:solidFill>
                  <a:schemeClr val="tx1"/>
                </a:solidFill>
                <a:effectLst/>
                <a:latin typeface="Arial" panose="020B0604020202020204" pitchFamily="34" charset="0"/>
              </a:rPr>
              <a:t>They reflect on challenges faced</a:t>
            </a:r>
            <a:r>
              <a:rPr kumimoji="0" lang="en-US" altLang="en-US" sz="2800" b="0" i="0" u="none" strike="noStrike" cap="none" normalizeH="0" baseline="0" dirty="0">
                <a:ln>
                  <a:noFill/>
                </a:ln>
                <a:solidFill>
                  <a:schemeClr val="tx1"/>
                </a:solidFill>
                <a:effectLst/>
                <a:latin typeface="Arial" panose="020B0604020202020204" pitchFamily="34" charset="0"/>
              </a:rPr>
              <a:t> and how they resolved them.</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q"/>
            </a:pPr>
            <a:r>
              <a:rPr kumimoji="0" lang="en-US" altLang="en-US" sz="2800" b="1" i="0" u="none" strike="noStrike" cap="none" normalizeH="0" baseline="0" dirty="0">
                <a:ln>
                  <a:noFill/>
                </a:ln>
                <a:solidFill>
                  <a:schemeClr val="tx1"/>
                </a:solidFill>
                <a:effectLst/>
                <a:latin typeface="Arial" panose="020B0604020202020204" pitchFamily="34" charset="0"/>
              </a:rPr>
              <a:t>Builds confidence, problem-solving skills, and presentation abilities.</a:t>
            </a:r>
            <a:r>
              <a:rPr kumimoji="0" lang="en-US" altLang="en-US" sz="2800" b="0" i="0" u="none" strike="noStrike" cap="none" normalizeH="0" baseline="0" dirty="0">
                <a:ln>
                  <a:noFill/>
                </a:ln>
                <a:solidFill>
                  <a:schemeClr val="tx1"/>
                </a:solidFill>
                <a:effectLst/>
                <a:latin typeface="Arial" panose="020B0604020202020204" pitchFamily="34" charset="0"/>
              </a:rPr>
              <a:t> </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404"/>
        <p:cNvGrpSpPr/>
        <p:nvPr/>
      </p:nvGrpSpPr>
      <p:grpSpPr>
        <a:xfrm>
          <a:off x="0" y="0"/>
          <a:ext cx="0" cy="0"/>
          <a:chOff x="0" y="0"/>
          <a:chExt cx="0" cy="0"/>
        </a:xfrm>
      </p:grpSpPr>
      <p:sp>
        <p:nvSpPr>
          <p:cNvPr id="405" name="Google Shape;405;p3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IN"/>
              <a:t>Galgotias University</a:t>
            </a:r>
            <a:endParaRPr/>
          </a:p>
        </p:txBody>
      </p:sp>
      <p:sp>
        <p:nvSpPr>
          <p:cNvPr id="406" name="Google Shape;406;p3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IN"/>
              <a:t>34</a:t>
            </a:fld>
            <a:endParaRPr/>
          </a:p>
        </p:txBody>
      </p:sp>
      <p:pic>
        <p:nvPicPr>
          <p:cNvPr id="407" name="Google Shape;407;p33" descr="A blue circle with text and words&#10;&#10;Description automatically generated"/>
          <p:cNvPicPr preferRelativeResize="0"/>
          <p:nvPr/>
        </p:nvPicPr>
        <p:blipFill rotWithShape="1">
          <a:blip r:embed="rId3">
            <a:alphaModFix/>
          </a:blip>
          <a:srcRect/>
          <a:stretch/>
        </p:blipFill>
        <p:spPr>
          <a:xfrm>
            <a:off x="10758566" y="176754"/>
            <a:ext cx="874732" cy="874732"/>
          </a:xfrm>
          <a:prstGeom prst="rect">
            <a:avLst/>
          </a:prstGeom>
          <a:noFill/>
          <a:ln>
            <a:noFill/>
          </a:ln>
        </p:spPr>
      </p:pic>
      <p:pic>
        <p:nvPicPr>
          <p:cNvPr id="408" name="Google Shape;408;p33"/>
          <p:cNvPicPr preferRelativeResize="0"/>
          <p:nvPr/>
        </p:nvPicPr>
        <p:blipFill rotWithShape="1">
          <a:blip r:embed="rId4">
            <a:alphaModFix/>
          </a:blip>
          <a:srcRect/>
          <a:stretch/>
        </p:blipFill>
        <p:spPr>
          <a:xfrm>
            <a:off x="104932" y="114202"/>
            <a:ext cx="3795634" cy="740238"/>
          </a:xfrm>
          <a:prstGeom prst="rect">
            <a:avLst/>
          </a:prstGeom>
          <a:noFill/>
          <a:ln>
            <a:noFill/>
          </a:ln>
        </p:spPr>
      </p:pic>
      <p:sp>
        <p:nvSpPr>
          <p:cNvPr id="411" name="Google Shape;411;p33"/>
          <p:cNvSpPr/>
          <p:nvPr/>
        </p:nvSpPr>
        <p:spPr>
          <a:xfrm>
            <a:off x="4127500" y="2935288"/>
            <a:ext cx="12192000" cy="457200"/>
          </a:xfrm>
          <a:prstGeom prst="rect">
            <a:avLst/>
          </a:prstGeom>
          <a:noFill/>
          <a:ln>
            <a:noFill/>
          </a:ln>
        </p:spPr>
        <p:txBody>
          <a:bodyPr spcFirstLastPara="1" wrap="square" lIns="91425" tIns="45700" rIns="91425" bIns="45700" anchor="ctr" anchorCtr="0">
            <a:sp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5" name="Title 1">
            <a:extLst>
              <a:ext uri="{FF2B5EF4-FFF2-40B4-BE49-F238E27FC236}">
                <a16:creationId xmlns:a16="http://schemas.microsoft.com/office/drawing/2014/main" id="{AD758219-3DA0-308A-2896-370B9AA76755}"/>
              </a:ext>
            </a:extLst>
          </p:cNvPr>
          <p:cNvSpPr>
            <a:spLocks noGrp="1"/>
          </p:cNvSpPr>
          <p:nvPr>
            <p:ph type="title"/>
          </p:nvPr>
        </p:nvSpPr>
        <p:spPr>
          <a:xfrm>
            <a:off x="576942" y="1166755"/>
            <a:ext cx="10515600" cy="629586"/>
          </a:xfrm>
        </p:spPr>
        <p:txBody>
          <a:bodyPr>
            <a:normAutofit fontScale="90000"/>
          </a:bodyPr>
          <a:lstStyle/>
          <a:p>
            <a:r>
              <a:rPr lang="en-IN" sz="4400" dirty="0"/>
              <a:t>Summary</a:t>
            </a:r>
            <a:endParaRPr lang="en-IN" dirty="0"/>
          </a:p>
        </p:txBody>
      </p:sp>
    </p:spTree>
    <p:extLst>
      <p:ext uri="{BB962C8B-B14F-4D97-AF65-F5344CB8AC3E}">
        <p14:creationId xmlns:p14="http://schemas.microsoft.com/office/powerpoint/2010/main" val="158731957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404"/>
        <p:cNvGrpSpPr/>
        <p:nvPr/>
      </p:nvGrpSpPr>
      <p:grpSpPr>
        <a:xfrm>
          <a:off x="0" y="0"/>
          <a:ext cx="0" cy="0"/>
          <a:chOff x="0" y="0"/>
          <a:chExt cx="0" cy="0"/>
        </a:xfrm>
      </p:grpSpPr>
      <p:sp>
        <p:nvSpPr>
          <p:cNvPr id="405" name="Google Shape;405;p3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IN"/>
              <a:t>Galgotias University</a:t>
            </a:r>
            <a:endParaRPr/>
          </a:p>
        </p:txBody>
      </p:sp>
      <p:sp>
        <p:nvSpPr>
          <p:cNvPr id="406" name="Google Shape;406;p3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IN"/>
              <a:t>35</a:t>
            </a:fld>
            <a:endParaRPr/>
          </a:p>
        </p:txBody>
      </p:sp>
      <p:pic>
        <p:nvPicPr>
          <p:cNvPr id="407" name="Google Shape;407;p33" descr="A blue circle with text and words&#10;&#10;Description automatically generated"/>
          <p:cNvPicPr preferRelativeResize="0"/>
          <p:nvPr/>
        </p:nvPicPr>
        <p:blipFill rotWithShape="1">
          <a:blip r:embed="rId3">
            <a:alphaModFix/>
          </a:blip>
          <a:srcRect/>
          <a:stretch/>
        </p:blipFill>
        <p:spPr>
          <a:xfrm>
            <a:off x="10758566" y="176754"/>
            <a:ext cx="874732" cy="874732"/>
          </a:xfrm>
          <a:prstGeom prst="rect">
            <a:avLst/>
          </a:prstGeom>
          <a:noFill/>
          <a:ln>
            <a:noFill/>
          </a:ln>
        </p:spPr>
      </p:pic>
      <p:pic>
        <p:nvPicPr>
          <p:cNvPr id="408" name="Google Shape;408;p33"/>
          <p:cNvPicPr preferRelativeResize="0"/>
          <p:nvPr/>
        </p:nvPicPr>
        <p:blipFill rotWithShape="1">
          <a:blip r:embed="rId4">
            <a:alphaModFix/>
          </a:blip>
          <a:srcRect/>
          <a:stretch/>
        </p:blipFill>
        <p:spPr>
          <a:xfrm>
            <a:off x="104932" y="114202"/>
            <a:ext cx="3795634" cy="740238"/>
          </a:xfrm>
          <a:prstGeom prst="rect">
            <a:avLst/>
          </a:prstGeom>
          <a:noFill/>
          <a:ln>
            <a:noFill/>
          </a:ln>
        </p:spPr>
      </p:pic>
      <p:sp>
        <p:nvSpPr>
          <p:cNvPr id="411" name="Google Shape;411;p33"/>
          <p:cNvSpPr/>
          <p:nvPr/>
        </p:nvSpPr>
        <p:spPr>
          <a:xfrm>
            <a:off x="4127500" y="2935288"/>
            <a:ext cx="12192000" cy="457200"/>
          </a:xfrm>
          <a:prstGeom prst="rect">
            <a:avLst/>
          </a:prstGeom>
          <a:noFill/>
          <a:ln>
            <a:noFill/>
          </a:ln>
        </p:spPr>
        <p:txBody>
          <a:bodyPr spcFirstLastPara="1" wrap="square" lIns="91425" tIns="45700" rIns="91425" bIns="45700" anchor="ctr" anchorCtr="0">
            <a:sp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graphicFrame>
        <p:nvGraphicFramePr>
          <p:cNvPr id="5" name="Title 1">
            <a:extLst>
              <a:ext uri="{FF2B5EF4-FFF2-40B4-BE49-F238E27FC236}">
                <a16:creationId xmlns:a16="http://schemas.microsoft.com/office/drawing/2014/main" id="{618F7372-2F94-46B9-A523-27F2F6120004}"/>
              </a:ext>
            </a:extLst>
          </p:cNvPr>
          <p:cNvGraphicFramePr/>
          <p:nvPr>
            <p:extLst>
              <p:ext uri="{D42A27DB-BD31-4B8C-83A1-F6EECF244321}">
                <p14:modId xmlns:p14="http://schemas.microsoft.com/office/powerpoint/2010/main" val="1618610200"/>
              </p:ext>
            </p:extLst>
          </p:nvPr>
        </p:nvGraphicFramePr>
        <p:xfrm>
          <a:off x="705469" y="1620810"/>
          <a:ext cx="11334131" cy="4290133"/>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extLst>
      <p:ext uri="{BB962C8B-B14F-4D97-AF65-F5344CB8AC3E}">
        <p14:creationId xmlns:p14="http://schemas.microsoft.com/office/powerpoint/2010/main" val="52374991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404"/>
        <p:cNvGrpSpPr/>
        <p:nvPr/>
      </p:nvGrpSpPr>
      <p:grpSpPr>
        <a:xfrm>
          <a:off x="0" y="0"/>
          <a:ext cx="0" cy="0"/>
          <a:chOff x="0" y="0"/>
          <a:chExt cx="0" cy="0"/>
        </a:xfrm>
      </p:grpSpPr>
      <p:sp>
        <p:nvSpPr>
          <p:cNvPr id="405" name="Google Shape;405;p3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IN"/>
              <a:t>Galgotias University</a:t>
            </a:r>
            <a:endParaRPr/>
          </a:p>
        </p:txBody>
      </p:sp>
      <p:sp>
        <p:nvSpPr>
          <p:cNvPr id="406" name="Google Shape;406;p3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IN"/>
              <a:t>36</a:t>
            </a:fld>
            <a:endParaRPr/>
          </a:p>
        </p:txBody>
      </p:sp>
      <p:pic>
        <p:nvPicPr>
          <p:cNvPr id="407" name="Google Shape;407;p33" descr="A blue circle with text and words&#10;&#10;Description automatically generated"/>
          <p:cNvPicPr preferRelativeResize="0"/>
          <p:nvPr/>
        </p:nvPicPr>
        <p:blipFill rotWithShape="1">
          <a:blip r:embed="rId3">
            <a:alphaModFix/>
          </a:blip>
          <a:srcRect/>
          <a:stretch/>
        </p:blipFill>
        <p:spPr>
          <a:xfrm>
            <a:off x="10758566" y="176754"/>
            <a:ext cx="874732" cy="874732"/>
          </a:xfrm>
          <a:prstGeom prst="rect">
            <a:avLst/>
          </a:prstGeom>
          <a:noFill/>
          <a:ln>
            <a:noFill/>
          </a:ln>
        </p:spPr>
      </p:pic>
      <p:pic>
        <p:nvPicPr>
          <p:cNvPr id="408" name="Google Shape;408;p33"/>
          <p:cNvPicPr preferRelativeResize="0"/>
          <p:nvPr/>
        </p:nvPicPr>
        <p:blipFill rotWithShape="1">
          <a:blip r:embed="rId4">
            <a:alphaModFix/>
          </a:blip>
          <a:srcRect/>
          <a:stretch/>
        </p:blipFill>
        <p:spPr>
          <a:xfrm>
            <a:off x="104932" y="114202"/>
            <a:ext cx="3795634" cy="740238"/>
          </a:xfrm>
          <a:prstGeom prst="rect">
            <a:avLst/>
          </a:prstGeom>
          <a:noFill/>
          <a:ln>
            <a:noFill/>
          </a:ln>
        </p:spPr>
      </p:pic>
      <p:sp>
        <p:nvSpPr>
          <p:cNvPr id="411" name="Google Shape;411;p33"/>
          <p:cNvSpPr/>
          <p:nvPr/>
        </p:nvSpPr>
        <p:spPr>
          <a:xfrm>
            <a:off x="4127500" y="2935288"/>
            <a:ext cx="12192000" cy="457200"/>
          </a:xfrm>
          <a:prstGeom prst="rect">
            <a:avLst/>
          </a:prstGeom>
          <a:noFill/>
          <a:ln>
            <a:noFill/>
          </a:ln>
        </p:spPr>
        <p:txBody>
          <a:bodyPr spcFirstLastPara="1" wrap="square" lIns="91425" tIns="45700" rIns="91425" bIns="45700" anchor="ctr" anchorCtr="0">
            <a:sp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 name="Title 1">
            <a:extLst>
              <a:ext uri="{FF2B5EF4-FFF2-40B4-BE49-F238E27FC236}">
                <a16:creationId xmlns:a16="http://schemas.microsoft.com/office/drawing/2014/main" id="{916A12FC-8D07-3AE7-9AA7-C2777C0874F6}"/>
              </a:ext>
            </a:extLst>
          </p:cNvPr>
          <p:cNvSpPr>
            <a:spLocks noGrp="1"/>
          </p:cNvSpPr>
          <p:nvPr>
            <p:ph type="title"/>
          </p:nvPr>
        </p:nvSpPr>
        <p:spPr>
          <a:xfrm>
            <a:off x="838200" y="891275"/>
            <a:ext cx="10515600" cy="1325563"/>
          </a:xfrm>
        </p:spPr>
        <p:txBody>
          <a:bodyPr>
            <a:noAutofit/>
          </a:bodyPr>
          <a:lstStyle/>
          <a:p>
            <a:r>
              <a:rPr lang="en-IN" sz="5400" dirty="0">
                <a:latin typeface="Georgia" panose="02040502050405020303" pitchFamily="18" charset="0"/>
              </a:rPr>
              <a:t>Information about the next lesson</a:t>
            </a:r>
            <a:endParaRPr lang="en-IN" sz="2000" dirty="0">
              <a:latin typeface="Georgia" panose="02040502050405020303" pitchFamily="18" charset="0"/>
            </a:endParaRPr>
          </a:p>
        </p:txBody>
      </p:sp>
    </p:spTree>
    <p:extLst>
      <p:ext uri="{BB962C8B-B14F-4D97-AF65-F5344CB8AC3E}">
        <p14:creationId xmlns:p14="http://schemas.microsoft.com/office/powerpoint/2010/main" val="390490076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404"/>
        <p:cNvGrpSpPr/>
        <p:nvPr/>
      </p:nvGrpSpPr>
      <p:grpSpPr>
        <a:xfrm>
          <a:off x="0" y="0"/>
          <a:ext cx="0" cy="0"/>
          <a:chOff x="0" y="0"/>
          <a:chExt cx="0" cy="0"/>
        </a:xfrm>
      </p:grpSpPr>
      <p:sp>
        <p:nvSpPr>
          <p:cNvPr id="405" name="Google Shape;405;p3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IN"/>
              <a:t>Galgotias University</a:t>
            </a:r>
            <a:endParaRPr/>
          </a:p>
        </p:txBody>
      </p:sp>
      <p:sp>
        <p:nvSpPr>
          <p:cNvPr id="406" name="Google Shape;406;p3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200"/>
              <a:buNone/>
            </a:pPr>
            <a:fld id="{00000000-1234-1234-1234-123412341234}" type="slidenum">
              <a:rPr lang="en-IN"/>
              <a:t>37</a:t>
            </a:fld>
            <a:endParaRPr/>
          </a:p>
        </p:txBody>
      </p:sp>
      <p:pic>
        <p:nvPicPr>
          <p:cNvPr id="407" name="Google Shape;407;p33" descr="A blue circle with text and words&#10;&#10;Description automatically generated"/>
          <p:cNvPicPr preferRelativeResize="0"/>
          <p:nvPr/>
        </p:nvPicPr>
        <p:blipFill rotWithShape="1">
          <a:blip r:embed="rId3">
            <a:alphaModFix/>
          </a:blip>
          <a:srcRect/>
          <a:stretch/>
        </p:blipFill>
        <p:spPr>
          <a:xfrm>
            <a:off x="10758566" y="176754"/>
            <a:ext cx="874732" cy="874732"/>
          </a:xfrm>
          <a:prstGeom prst="rect">
            <a:avLst/>
          </a:prstGeom>
          <a:noFill/>
          <a:ln>
            <a:noFill/>
          </a:ln>
        </p:spPr>
      </p:pic>
      <p:pic>
        <p:nvPicPr>
          <p:cNvPr id="408" name="Google Shape;408;p33"/>
          <p:cNvPicPr preferRelativeResize="0"/>
          <p:nvPr/>
        </p:nvPicPr>
        <p:blipFill rotWithShape="1">
          <a:blip r:embed="rId4">
            <a:alphaModFix/>
          </a:blip>
          <a:srcRect/>
          <a:stretch/>
        </p:blipFill>
        <p:spPr>
          <a:xfrm>
            <a:off x="104932" y="114202"/>
            <a:ext cx="3795634" cy="740238"/>
          </a:xfrm>
          <a:prstGeom prst="rect">
            <a:avLst/>
          </a:prstGeom>
          <a:noFill/>
          <a:ln>
            <a:noFill/>
          </a:ln>
        </p:spPr>
      </p:pic>
      <p:sp>
        <p:nvSpPr>
          <p:cNvPr id="411" name="Google Shape;411;p33"/>
          <p:cNvSpPr/>
          <p:nvPr/>
        </p:nvSpPr>
        <p:spPr>
          <a:xfrm>
            <a:off x="4127500" y="2935288"/>
            <a:ext cx="12192000" cy="457200"/>
          </a:xfrm>
          <a:prstGeom prst="rect">
            <a:avLst/>
          </a:prstGeom>
          <a:noFill/>
          <a:ln>
            <a:noFill/>
          </a:ln>
        </p:spPr>
        <p:txBody>
          <a:bodyPr spcFirstLastPara="1" wrap="square" lIns="91425" tIns="45700" rIns="91425" bIns="45700" anchor="ctr" anchorCtr="0">
            <a:sp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5" name="Title 1">
            <a:extLst>
              <a:ext uri="{FF2B5EF4-FFF2-40B4-BE49-F238E27FC236}">
                <a16:creationId xmlns:a16="http://schemas.microsoft.com/office/drawing/2014/main" id="{3EDDD1E6-61AC-8644-17A9-ED36FC1D4145}"/>
              </a:ext>
            </a:extLst>
          </p:cNvPr>
          <p:cNvSpPr>
            <a:spLocks noGrp="1"/>
          </p:cNvSpPr>
          <p:nvPr>
            <p:ph type="title"/>
          </p:nvPr>
        </p:nvSpPr>
        <p:spPr>
          <a:xfrm>
            <a:off x="3693002" y="2286730"/>
            <a:ext cx="4805996" cy="1297115"/>
          </a:xfrm>
        </p:spPr>
        <p:txBody>
          <a:bodyPr vert="horz" lIns="91440" tIns="45720" rIns="91440" bIns="45720" rtlCol="0" anchor="t">
            <a:normAutofit fontScale="90000"/>
          </a:bodyPr>
          <a:lstStyle/>
          <a:p>
            <a:pPr algn="ctr"/>
            <a:r>
              <a:rPr lang="en-US" sz="4000" kern="1200" dirty="0">
                <a:solidFill>
                  <a:schemeClr val="tx1">
                    <a:lumMod val="95000"/>
                    <a:lumOff val="5000"/>
                  </a:schemeClr>
                </a:solidFill>
                <a:latin typeface="+mj-lt"/>
                <a:ea typeface="+mj-ea"/>
                <a:cs typeface="+mj-cs"/>
              </a:rPr>
              <a:t>Review and Reflection from students</a:t>
            </a:r>
          </a:p>
        </p:txBody>
      </p:sp>
    </p:spTree>
    <p:extLst>
      <p:ext uri="{BB962C8B-B14F-4D97-AF65-F5344CB8AC3E}">
        <p14:creationId xmlns:p14="http://schemas.microsoft.com/office/powerpoint/2010/main" val="2065925943"/>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33</TotalTime>
  <Words>2015</Words>
  <Application>Microsoft Office PowerPoint</Application>
  <PresentationFormat>Widescreen</PresentationFormat>
  <Paragraphs>146</Paragraphs>
  <Slides>37</Slides>
  <Notes>37</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37</vt:i4>
      </vt:variant>
    </vt:vector>
  </HeadingPairs>
  <TitlesOfParts>
    <vt:vector size="45" baseType="lpstr">
      <vt:lpstr>Arial</vt:lpstr>
      <vt:lpstr>Georgia</vt:lpstr>
      <vt:lpstr>Calibri</vt:lpstr>
      <vt:lpstr>Play</vt:lpstr>
      <vt:lpstr>Noto Sans Symbols</vt:lpstr>
      <vt:lpstr>Times New Roman</vt:lpstr>
      <vt:lpstr>Wingdings</vt:lpstr>
      <vt:lpstr>Office Theme</vt:lpstr>
      <vt:lpstr>Average ,Mixture and Alligation.    Session No.: 02 Course Name: Professional Readiness Course Code: O1UA603L Instructor Name: Dharmendra kumar Duration: 50 min Date of Conduction of Class: 0  </vt:lpstr>
      <vt:lpstr>PowerPoint Presentation</vt:lpstr>
      <vt:lpstr>At the end of this session students will be able to </vt:lpstr>
      <vt:lpstr>Session Outline</vt:lpstr>
      <vt:lpstr>Learning Activity 1</vt:lpstr>
      <vt:lpstr>PowerPoint Presentation</vt:lpstr>
      <vt:lpstr>Learning Activity 2</vt:lpstr>
      <vt:lpstr>Q1. Average marks of the class X, Y &amp; Z is calculated. The average score of class X, Y, Z are 83,76,85 and the number of students in the three classes are 27, 36 and 45 respectively. Find the average score of all the three classes. (a) 80              (b) 82                 (c) 82.5               (d) 81.5</vt:lpstr>
      <vt:lpstr>Q2. The average of 9 observations is 87. If the average of the first five observations is 79 and the average of the next three is 92. Find the 9th observation. (a) 118                 (b) 112                (c) 102                (d) 115</vt:lpstr>
      <vt:lpstr>Q3. The average of 7 numbers is 34 and the average of the first three numbers is 28 and the average of the next two numbers is 47. Find the average of the last two numbers. (a) 28               (b) 29                 (c) 30                (d) 31</vt:lpstr>
      <vt:lpstr>Q4. The average of 9 numbers is 79. The average of the first two numbers is 75. Also, the average of the next four numbers is 87. If the 8th number is five more than 7th number and one more than 9th number. Calculate 9th number. (a) 78                  (b) 79                     (c) 72                 (d) 71</vt:lpstr>
      <vt:lpstr>Q5. The average weight of A, B &amp; C is 84 kg. If D joins, the average weight becomes 80 kg. If another person E who is 3 kg heavier than D replaces A, then the average weight of B, C, D and E becomes 79 kg. Find the weight of A? (a) 75            (b) 79                   (c) 80                (d) 81</vt:lpstr>
      <vt:lpstr>Q6. The average weight of four people A, B, C, D is 40 kg. If E is included then the average of A, B, C, D, E becomes 41 kg. If A is replaced by F then the average of B, C, D, E, F is 45 kg. Find the average of B, C, D, F. (a) 48                (b) 49               (c) 50                    (d) 45</vt:lpstr>
      <vt:lpstr>Q7. Three years ago, the average of a family of five members was 17 years. A baby having been born &amp; the average age of the family is still the same today. Find the age of the child. (a) 1                    (b) 1.5                 (c) 2                    (d) 2.5</vt:lpstr>
      <vt:lpstr>Q8. There are 35 students in a hostel. If the number of students increased by 7, the expense of mess increased by Rs. 42 per day. While the average expenditure per head decreased by Rs. 1. Find the original expenditure of the mess? (a) 480              (b) 490               (c) 420                 (d) 510</vt:lpstr>
      <vt:lpstr>Q9. The average of 100 numbers is 46 but it was found that two numbers 16 &amp; 43 are mistakenly calculated as 61 &amp; 34. Find the correct average if it was found that the total number is only 90. (a) 48.7               (b) 49.8                  (c) 50.7              (d) 51.5</vt:lpstr>
      <vt:lpstr>Q10. A batsman has a certain average in his 11 innings. He scored 90 runs in 12th innings, due to this his average decreased by 5 runs. Find his current average. (a) 150               (b) 145                 (c) 150               (d) 155</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Reflection- Learning Activity 2</vt:lpstr>
      <vt:lpstr>Summary</vt:lpstr>
      <vt:lpstr>PowerPoint Presentation</vt:lpstr>
      <vt:lpstr>Information about the next lesson</vt:lpstr>
      <vt:lpstr>Review and Reflection from students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Average ,Mixture and Alligation.    Session No.: 02 Course Name: Professional Readiness Course Code: O1UA603L Instructor Name: Dharmendra kumar Duration: 50 min Date of Conduction of Class: 0  </dc:title>
  <dc:creator>Deepak Gupta</dc:creator>
  <cp:lastModifiedBy>Richa jindal</cp:lastModifiedBy>
  <cp:revision>4</cp:revision>
  <dcterms:created xsi:type="dcterms:W3CDTF">2024-08-22T06:33:55Z</dcterms:created>
  <dcterms:modified xsi:type="dcterms:W3CDTF">2026-02-09T09:09:03Z</dcterms:modified>
</cp:coreProperties>
</file>